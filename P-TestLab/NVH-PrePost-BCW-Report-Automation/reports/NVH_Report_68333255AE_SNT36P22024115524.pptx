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8"/>
  </p:notesMasterIdLst>
  <p:handoutMasterIdLst>
    <p:handoutMasterId r:id="rId9"/>
  </p:handoutMasterIdLst>
  <p:sldIdLst>
    <p:sldId id="264" r:id="rId2"/>
    <p:sldId id="274" r:id="rId3"/>
    <p:sldId id="275" r:id="rId4"/>
    <p:sldId id="276" r:id="rId5"/>
    <p:sldId id="277" r:id="rId6"/>
    <p:sldId id="278" r:id="rId7"/>
  </p:sldIdLst>
  <p:sldSz cx="9144000" cy="6858000" type="letter"/>
  <p:notesSz cx="7010400" cy="92233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4400" kern="1200">
        <a:solidFill>
          <a:schemeClr val="tx2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4400" kern="1200">
        <a:solidFill>
          <a:schemeClr val="tx2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4400" kern="1200">
        <a:solidFill>
          <a:schemeClr val="tx2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4400" kern="1200">
        <a:solidFill>
          <a:schemeClr val="tx2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4400" kern="1200">
        <a:solidFill>
          <a:schemeClr val="tx2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4400" kern="1200">
        <a:solidFill>
          <a:schemeClr val="tx2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4400" kern="1200">
        <a:solidFill>
          <a:schemeClr val="tx2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4400" kern="1200">
        <a:solidFill>
          <a:schemeClr val="tx2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4400" kern="1200">
        <a:solidFill>
          <a:schemeClr val="tx2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5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E4430"/>
    <a:srgbClr val="FF00FF"/>
    <a:srgbClr val="008000"/>
    <a:srgbClr val="00CC99"/>
    <a:srgbClr val="FF6600"/>
    <a:srgbClr val="B11B54"/>
    <a:srgbClr val="0F07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68" autoAdjust="0"/>
    <p:restoredTop sz="95652" autoAdjust="0"/>
  </p:normalViewPr>
  <p:slideViewPr>
    <p:cSldViewPr>
      <p:cViewPr varScale="1">
        <p:scale>
          <a:sx n="109" d="100"/>
          <a:sy n="109" d="100"/>
        </p:scale>
        <p:origin x="193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47" d="100"/>
          <a:sy n="47" d="100"/>
        </p:scale>
        <p:origin x="-1212" y="-96"/>
      </p:cViewPr>
      <p:guideLst>
        <p:guide orient="horz" pos="2905"/>
        <p:guide pos="22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3.wmf"/><Relationship Id="rId2" Type="http://schemas.openxmlformats.org/officeDocument/2006/relationships/image" Target="../media/image4.w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image" Target="../media/image6.w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7.wmf"/><Relationship Id="rId2" Type="http://schemas.openxmlformats.org/officeDocument/2006/relationships/image" Target="../media/image8.w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9.wmf"/><Relationship Id="rId2" Type="http://schemas.openxmlformats.org/officeDocument/2006/relationships/image" Target="../media/image10.wmf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11.wmf"/><Relationship Id="rId2" Type="http://schemas.openxmlformats.org/officeDocument/2006/relationships/image" Target="../media/image12.wmf"/></Relationships>
</file>

<file path=ppt/drawings/_rels/vmlDrawing6.vml.rels><?xml version='1.0' encoding='UTF-8' standalone='yes'?>
<Relationships xmlns="http://schemas.openxmlformats.org/package/2006/relationships"><Relationship Id="rId1" Type="http://schemas.openxmlformats.org/officeDocument/2006/relationships/image" Target="../media/image13.wmf"/><Relationship Id="rId2" Type="http://schemas.openxmlformats.org/officeDocument/2006/relationships/image" Target="../media/image14.w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57" tIns="46378" rIns="92757" bIns="46378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0"/>
            <a:ext cx="3037840" cy="46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57" tIns="46378" rIns="92757" bIns="46378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60605"/>
            <a:ext cx="3037840" cy="46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57" tIns="46378" rIns="92757" bIns="46378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760605"/>
            <a:ext cx="3037840" cy="46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57" tIns="46378" rIns="92757" bIns="46378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26BF9EA1-6C57-4F12-85C8-775EC47DBCA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7273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57" tIns="46378" rIns="92757" bIns="46378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938" y="0"/>
            <a:ext cx="3037840" cy="46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57" tIns="46378" rIns="92757" bIns="46378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8563" y="692150"/>
            <a:ext cx="4613275" cy="34591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381103"/>
            <a:ext cx="5608320" cy="4150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57" tIns="46378" rIns="92757" bIns="463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60605"/>
            <a:ext cx="3037840" cy="46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57" tIns="46378" rIns="92757" bIns="46378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760605"/>
            <a:ext cx="3037840" cy="46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57" tIns="46378" rIns="92757" bIns="46378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5845A9D5-D06D-4847-9D9A-BC0F1531968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3804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0" y="6626225"/>
            <a:ext cx="1284288" cy="23177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798888" y="6591300"/>
            <a:ext cx="1625600" cy="266700"/>
          </a:xfrm>
          <a:ln/>
        </p:spPr>
        <p:txBody>
          <a:bodyPr/>
          <a:lstStyle>
            <a:lvl1pPr algn="ctr">
              <a:defRPr>
                <a:solidFill>
                  <a:srgbClr val="FF0000"/>
                </a:solidFill>
              </a:defRPr>
            </a:lvl1pPr>
          </a:lstStyle>
          <a:p>
            <a:pPr>
              <a:defRPr/>
            </a:pPr>
            <a:r>
              <a:rPr lang="en-US"/>
              <a:t>AAM CONFIDENTIAL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BEB377-88AD-419C-B95D-70B72BA1071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3425" y="114300"/>
            <a:ext cx="601663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AAM CONFIDENTIAL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7ECD3B-2845-414E-82C4-759984DE97D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91440" y="1005840"/>
            <a:ext cx="5943600" cy="2560320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91440" y="3931920"/>
            <a:ext cx="5943600" cy="256032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90411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9906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626225"/>
            <a:ext cx="1284288" cy="328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lvl1pPr>
              <a:defRPr sz="1000" b="1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DATE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798888" y="6626225"/>
            <a:ext cx="1625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lvl1pPr>
              <a:defRPr sz="1000" b="1" i="1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AAM CONFIDENTIAL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39113" y="6626225"/>
            <a:ext cx="1004887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D07ECD3B-2845-414E-82C4-759984DE97D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151" name="Line 7"/>
          <p:cNvSpPr>
            <a:spLocks noChangeShapeType="1"/>
          </p:cNvSpPr>
          <p:nvPr userDrawn="1"/>
        </p:nvSpPr>
        <p:spPr bwMode="auto">
          <a:xfrm>
            <a:off x="114300" y="819150"/>
            <a:ext cx="8905875" cy="0"/>
          </a:xfrm>
          <a:prstGeom prst="line">
            <a:avLst/>
          </a:prstGeom>
          <a:noFill/>
          <a:ln w="38100" cmpd="dbl">
            <a:solidFill>
              <a:srgbClr val="000099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pic>
        <p:nvPicPr>
          <p:cNvPr id="1033" name="Picture 11" descr="untitled"/>
          <p:cNvPicPr>
            <a:picLocks noChangeAspect="1" noChangeArrowheads="1"/>
          </p:cNvPicPr>
          <p:nvPr userDrawn="1"/>
        </p:nvPicPr>
        <p:blipFill>
          <a:blip r:embed="rId4" cstate="print"/>
          <a:srcRect t="16000"/>
          <a:stretch>
            <a:fillRect/>
          </a:stretch>
        </p:blipFill>
        <p:spPr bwMode="auto">
          <a:xfrm>
            <a:off x="152400" y="90488"/>
            <a:ext cx="639763" cy="671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6" Type="http://schemas.openxmlformats.org/officeDocument/2006/relationships/image" Target="../media/image4.w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wmf"/><Relationship Id="rId5" Type="http://schemas.openxmlformats.org/officeDocument/2006/relationships/oleObject" Target="../embeddings/oleObject4.bin"/><Relationship Id="rId6" Type="http://schemas.openxmlformats.org/officeDocument/2006/relationships/image" Target="../media/image6.w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7.wmf"/><Relationship Id="rId5" Type="http://schemas.openxmlformats.org/officeDocument/2006/relationships/oleObject" Target="../embeddings/oleObject6.bin"/><Relationship Id="rId6" Type="http://schemas.openxmlformats.org/officeDocument/2006/relationships/image" Target="../media/image8.w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9.wmf"/><Relationship Id="rId5" Type="http://schemas.openxmlformats.org/officeDocument/2006/relationships/oleObject" Target="../embeddings/oleObject8.bin"/><Relationship Id="rId6" Type="http://schemas.openxmlformats.org/officeDocument/2006/relationships/image" Target="../media/image10.wm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11.wmf"/><Relationship Id="rId5" Type="http://schemas.openxmlformats.org/officeDocument/2006/relationships/oleObject" Target="../embeddings/oleObject10.bin"/><Relationship Id="rId6" Type="http://schemas.openxmlformats.org/officeDocument/2006/relationships/image" Target="../media/image12.w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13.wmf"/><Relationship Id="rId5" Type="http://schemas.openxmlformats.org/officeDocument/2006/relationships/oleObject" Target="../embeddings/oleObject12.bin"/><Relationship Id="rId6" Type="http://schemas.openxmlformats.org/officeDocument/2006/relationships/image" Target="../media/image1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PLOT1">
            <a:extLst>
              <a:ext uri="{FF2B5EF4-FFF2-40B4-BE49-F238E27FC236}">
                <a16:creationId xmlns:a16="http://schemas.microsoft.com/office/drawing/2014/main" id="{9D921A39-45D6-409C-ABA4-EC3DB05A393E}"/>
              </a:ext>
            </a:extLst>
          </p:cNvPr>
          <p:cNvGraphicFramePr>
            <a:graphicFrameLocks noGrp="1"/>
          </p:cNvGraphicFramePr>
          <p:nvPr>
            <p:ph type="pic" sz="quarter" idx="14"/>
            <p:extLst>
              <p:ext uri="{D42A27DB-BD31-4B8C-83A1-F6EECF244321}">
                <p14:modId xmlns:p14="http://schemas.microsoft.com/office/powerpoint/2010/main" val="3386459717"/>
              </p:ext>
            </p:extLst>
          </p:nvPr>
        </p:nvGraphicFramePr>
        <p:xfrm>
          <a:off x="76200" y="3932238"/>
          <a:ext cx="5959475" cy="256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" name="Active Picture" r:id="rId3" imgW="4659840" imgH="2880000" progId="LMS.Test.Lab.ActivePicture.1">
                  <p:embed/>
                </p:oleObj>
              </mc:Choice>
              <mc:Fallback>
                <p:oleObj name="Active Picture" r:id="rId3" imgW="4659840" imgH="2880000" progId="LMS.Test.Lab.ActivePicture.1">
                  <p:embed/>
                  <p:pic>
                    <p:nvPicPr>
                      <p:cNvPr id="1026" name="PLOT1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3932238"/>
                        <a:ext cx="5959475" cy="2560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PLOT3">
            <a:extLst>
              <a:ext uri="{FF2B5EF4-FFF2-40B4-BE49-F238E27FC236}">
                <a16:creationId xmlns:a16="http://schemas.microsoft.com/office/drawing/2014/main" id="{58EFC58D-F0C2-4DE0-8ACA-79E366613310}"/>
              </a:ext>
            </a:extLst>
          </p:cNvPr>
          <p:cNvGraphicFramePr>
            <a:graphicFrameLocks noGrp="1"/>
          </p:cNvGraphicFramePr>
          <p:nvPr>
            <p:ph type="pic" sz="quarter" idx="13"/>
            <p:extLst>
              <p:ext uri="{D42A27DB-BD31-4B8C-83A1-F6EECF244321}">
                <p14:modId xmlns:p14="http://schemas.microsoft.com/office/powerpoint/2010/main" val="20907268"/>
              </p:ext>
            </p:extLst>
          </p:nvPr>
        </p:nvGraphicFramePr>
        <p:xfrm>
          <a:off x="76200" y="1006475"/>
          <a:ext cx="5958840" cy="255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4" name="Active Picture" r:id="rId5" imgW="4659840" imgH="2880000" progId="LMS.Test.Lab.ActivePicture.1">
                  <p:embed/>
                </p:oleObj>
              </mc:Choice>
              <mc:Fallback>
                <p:oleObj name="Active Picture" r:id="rId5" imgW="4659840" imgH="2880000" progId="LMS.Test.Lab.ActivePicture.1">
                  <p:embed/>
                  <p:pic>
                    <p:nvPicPr>
                      <p:cNvPr id="1028" name="PLOT3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006475"/>
                        <a:ext cx="5958840" cy="2559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33400" y="832104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Pinion Nose Vertical Vibration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832104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13</a:t>
            </a:r>
            <a:r>
              <a:rPr lang="en-US" sz="1200" b="1" baseline="30000" dirty="0"/>
              <a:t>th</a:t>
            </a:r>
            <a:r>
              <a:rPr lang="en-US" sz="1200" b="1" dirty="0"/>
              <a:t> Order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62000" y="1143000"/>
            <a:ext cx="876300" cy="27699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+450Nm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7ECD3B-2845-414E-82C4-759984DE97DB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900113" y="57103"/>
            <a:ext cx="7329487" cy="400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9" tIns="45714" rIns="91429" bIns="45714">
            <a:spAutoFit/>
          </a:bodyPr>
          <a:lstStyle/>
          <a:p>
            <a:pPr marL="457200" indent="-457200" algn="ctr">
              <a:spcBef>
                <a:spcPts val="0"/>
              </a:spcBef>
              <a:defRPr/>
            </a:pPr>
            <a:r>
              <a:rPr 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Stellantis CUSW 2-Speed PV PTU 131mm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896112" y="381000"/>
            <a:ext cx="7333488" cy="400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9" tIns="45714" rIns="91429" bIns="45714">
            <a:spAutoFit/>
          </a:bodyPr>
          <a:lstStyle/>
          <a:p>
            <a:pPr marL="457200" indent="-457200" algn="ctr">
              <a:spcBef>
                <a:spcPts val="0"/>
              </a:spcBef>
              <a:defRPr/>
            </a:pPr>
            <a:r>
              <a:rPr lang="en-US" sz="2000" b="1" dirty="0">
                <a:solidFill>
                  <a:schemeClr val="tx1"/>
                </a:solidFill>
              </a:rPr>
              <a:t>Pre/Post BCW Durability NVH Results - </a:t>
            </a:r>
            <a:r>
              <a:rPr lang="en-US" sz="2000" b="1" i="1" dirty="0">
                <a:solidFill>
                  <a:srgbClr val="0000FF"/>
                </a:solidFill>
              </a:rPr>
              <a:t>Drive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endParaRPr lang="en-US" sz="2000" b="1" i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Footer Placeholder 2"/>
          <p:cNvSpPr txBox="1">
            <a:spLocks/>
          </p:cNvSpPr>
          <p:nvPr/>
        </p:nvSpPr>
        <p:spPr bwMode="auto">
          <a:xfrm>
            <a:off x="3733800" y="6591300"/>
            <a:ext cx="1690688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b="1" i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>
                    <a:lumMod val="50000"/>
                  </a:schemeClr>
                </a:solidFill>
              </a:rPr>
              <a:t>--AAM CONFIDENTIAL--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63440" y="3767328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13</a:t>
            </a:r>
            <a:r>
              <a:rPr lang="en-US" sz="1200" b="1" baseline="30000" dirty="0">
                <a:solidFill>
                  <a:schemeClr val="tx1"/>
                </a:solidFill>
              </a:rPr>
              <a:t>th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b="1" dirty="0"/>
              <a:t>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3767328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Torsional Acceleration – Telemetry</a:t>
            </a:r>
          </a:p>
        </p:txBody>
      </p:sp>
      <p:grpSp>
        <p:nvGrpSpPr>
          <p:cNvPr id="90" name="Group 89"/>
          <p:cNvGrpSpPr/>
          <p:nvPr/>
        </p:nvGrpSpPr>
        <p:grpSpPr>
          <a:xfrm>
            <a:off x="6248400" y="847725"/>
            <a:ext cx="2743200" cy="1313914"/>
            <a:chOff x="6324600" y="914400"/>
            <a:chExt cx="2743200" cy="1313914"/>
          </a:xfrm>
        </p:grpSpPr>
        <p:sp>
          <p:nvSpPr>
            <p:cNvPr id="91" name="TextBox 90"/>
            <p:cNvSpPr txBox="1"/>
            <p:nvPr/>
          </p:nvSpPr>
          <p:spPr>
            <a:xfrm>
              <a:off x="6324600" y="1151096"/>
              <a:ext cx="2743200" cy="10772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 Order: 282084</a:t>
              </a:r>
              <a:r>
                <a:rPr lang="en-US" sz="800" b="1" dirty="0">
                  <a:solidFill>
                    <a:schemeClr val="tx1"/>
                  </a:solidFill>
                </a:rPr>
                <a:t/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 Dyno: RHTC AWD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Test(s) Performed: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Pre-Test (2/10/2022)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Post-100% (3/2/2022)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Post-300% (n/a)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PTL Test Order:  282083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PTL Sample Number: 0002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7010400" y="914400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Testing Information</a:t>
              </a: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6248400" y="2197715"/>
            <a:ext cx="2743200" cy="1016585"/>
            <a:chOff x="6324600" y="2401253"/>
            <a:chExt cx="2743200" cy="1016585"/>
          </a:xfrm>
        </p:grpSpPr>
        <p:sp>
          <p:nvSpPr>
            <p:cNvPr id="94" name="TextBox 93"/>
            <p:cNvSpPr txBox="1"/>
            <p:nvPr/>
          </p:nvSpPr>
          <p:spPr>
            <a:xfrm>
              <a:off x="6324600" y="2633008"/>
              <a:ext cx="2743200" cy="7848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Design Level: PV (diff re-sourcing)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P/N: 68333255AE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S/N: T36P22024115524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Ratio: 2.73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Prop Info: PS1247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7010400" y="2401253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Part Information</a:t>
              </a:r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6248400" y="3291101"/>
            <a:ext cx="2743200" cy="1017800"/>
            <a:chOff x="6248400" y="3376983"/>
            <a:chExt cx="2743200" cy="1017800"/>
          </a:xfrm>
        </p:grpSpPr>
        <p:sp>
          <p:nvSpPr>
            <p:cNvPr id="98" name="TextBox 97"/>
            <p:cNvSpPr txBox="1"/>
            <p:nvPr/>
          </p:nvSpPr>
          <p:spPr>
            <a:xfrm>
              <a:off x="6248400" y="3609953"/>
              <a:ext cx="2743200" cy="7848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t" anchorCtr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/>
                <a:t>Drive (Amplitude vs. Target +3dB):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900" dirty="0"/>
                <a:t>Post-100</a:t>
              </a:r>
              <a:r>
                <a:rPr lang="en-US" sz="900" dirty="0">
                  <a:solidFill>
                    <a:schemeClr val="tx1"/>
                  </a:solidFill>
                </a:rPr>
                <a:t>%: -23dB</a:t>
              </a:r>
              <a:r>
                <a:rPr lang="en-US" sz="900" dirty="0"/>
                <a:t>(100%)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Post-300%: n/</a:t>
              </a:r>
              <a:r>
                <a:rPr lang="en-US" sz="900" dirty="0" err="1">
                  <a:solidFill>
                    <a:schemeClr val="tx1"/>
                  </a:solidFill>
                </a:rPr>
                <a:t>adB</a:t>
              </a:r>
              <a:r>
                <a:rPr lang="en-US" sz="900" dirty="0">
                  <a:solidFill>
                    <a:schemeClr val="tx1"/>
                  </a:solidFill>
                </a:rPr>
                <a:t>(300%)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endParaRPr lang="en-US" sz="900" dirty="0">
                <a:solidFill>
                  <a:schemeClr val="tx1"/>
                </a:solidFill>
              </a:endParaRP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Comments: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6934200" y="3376983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Testing Results</a:t>
              </a:r>
            </a:p>
          </p:txBody>
        </p:sp>
      </p:grpSp>
      <p:sp>
        <p:nvSpPr>
          <p:cNvPr id="118" name="TextBox 117"/>
          <p:cNvSpPr txBox="1"/>
          <p:nvPr/>
        </p:nvSpPr>
        <p:spPr>
          <a:xfrm>
            <a:off x="762000" y="4066401"/>
            <a:ext cx="876300" cy="27699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+450Nm</a:t>
            </a: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D63B939B-BF26-431C-843B-6EA2A04D4563}"/>
              </a:ext>
            </a:extLst>
          </p:cNvPr>
          <p:cNvGrpSpPr/>
          <p:nvPr/>
        </p:nvGrpSpPr>
        <p:grpSpPr>
          <a:xfrm>
            <a:off x="6862132" y="6330950"/>
            <a:ext cx="2053268" cy="462698"/>
            <a:chOff x="6905945" y="6365624"/>
            <a:chExt cx="2053268" cy="462698"/>
          </a:xfrm>
        </p:grpSpPr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6D0B4D84-CB56-4D32-B11C-17F2FA1C250C}"/>
                </a:ext>
              </a:extLst>
            </p:cNvPr>
            <p:cNvSpPr/>
            <p:nvPr/>
          </p:nvSpPr>
          <p:spPr bwMode="auto">
            <a:xfrm rot="5400000">
              <a:off x="8325485" y="6523224"/>
              <a:ext cx="274320" cy="27432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4AFD3840-87D1-4B33-AF38-D07EA1A5E1A1}"/>
                </a:ext>
              </a:extLst>
            </p:cNvPr>
            <p:cNvSpPr/>
            <p:nvPr/>
          </p:nvSpPr>
          <p:spPr bwMode="auto">
            <a:xfrm rot="5400000">
              <a:off x="8641080" y="6523224"/>
              <a:ext cx="274320" cy="27432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22" name="Multiply 88">
              <a:extLst>
                <a:ext uri="{FF2B5EF4-FFF2-40B4-BE49-F238E27FC236}">
                  <a16:creationId xmlns:a16="http://schemas.microsoft.com/office/drawing/2014/main" id="{6ACCD0B2-91E9-4CD1-A10A-887DCE097F36}"/>
                </a:ext>
              </a:extLst>
            </p:cNvPr>
            <p:cNvSpPr/>
            <p:nvPr/>
          </p:nvSpPr>
          <p:spPr bwMode="auto">
            <a:xfrm>
              <a:off x="8640777" y="6546084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84C3ED0E-32C1-4CA5-9315-B47A1306E7D7}"/>
                </a:ext>
              </a:extLst>
            </p:cNvPr>
            <p:cNvSpPr txBox="1"/>
            <p:nvPr/>
          </p:nvSpPr>
          <p:spPr>
            <a:xfrm>
              <a:off x="8287358" y="6365624"/>
              <a:ext cx="356261" cy="2000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30DBC80C-3D3B-40EB-A6C3-843D2EFD3D03}"/>
                </a:ext>
              </a:extLst>
            </p:cNvPr>
            <p:cNvSpPr txBox="1"/>
            <p:nvPr/>
          </p:nvSpPr>
          <p:spPr>
            <a:xfrm>
              <a:off x="8602952" y="6365625"/>
              <a:ext cx="356261" cy="2000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</a:rPr>
                <a:t>No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6D0A694E-63CD-4055-8639-3BE9FF23A185}"/>
                </a:ext>
              </a:extLst>
            </p:cNvPr>
            <p:cNvSpPr txBox="1"/>
            <p:nvPr/>
          </p:nvSpPr>
          <p:spPr>
            <a:xfrm>
              <a:off x="6905945" y="6489768"/>
              <a:ext cx="1447801" cy="33855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r"/>
              <a:r>
                <a:rPr lang="en-US" sz="800" b="1" dirty="0">
                  <a:solidFill>
                    <a:schemeClr val="tx1"/>
                  </a:solidFill>
                </a:rPr>
                <a:t>*Full Tear-Down</a:t>
              </a:r>
            </a:p>
            <a:p>
              <a:pPr algn="r"/>
              <a:r>
                <a:rPr lang="en-US" sz="800" b="1" dirty="0">
                  <a:solidFill>
                    <a:schemeClr val="tx1"/>
                  </a:solidFill>
                </a:rPr>
                <a:t>Analysis Required?</a:t>
              </a:r>
            </a:p>
          </p:txBody>
        </p:sp>
      </p:grpSp>
      <p:sp>
        <p:nvSpPr>
          <p:cNvPr id="128" name="TextBox 127">
            <a:extLst>
              <a:ext uri="{FF2B5EF4-FFF2-40B4-BE49-F238E27FC236}">
                <a16:creationId xmlns:a16="http://schemas.microsoft.com/office/drawing/2014/main" id="{54423342-7891-453E-8F55-32CA01E60D15}"/>
              </a:ext>
            </a:extLst>
          </p:cNvPr>
          <p:cNvSpPr txBox="1"/>
          <p:nvPr/>
        </p:nvSpPr>
        <p:spPr>
          <a:xfrm>
            <a:off x="5410200" y="6400800"/>
            <a:ext cx="1752600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dirty="0"/>
              <a:t>NOTE:  NVH Requirement is at Post-100% BCW</a:t>
            </a:r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48435FCF-B8B3-4E7A-B7A4-7932336033DA}"/>
              </a:ext>
            </a:extLst>
          </p:cNvPr>
          <p:cNvGrpSpPr/>
          <p:nvPr/>
        </p:nvGrpSpPr>
        <p:grpSpPr>
          <a:xfrm>
            <a:off x="6248401" y="5101372"/>
            <a:ext cx="2743199" cy="1241822"/>
            <a:chOff x="6248401" y="5101372"/>
            <a:chExt cx="2743199" cy="1241822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557D3D40-9496-4D15-8D1A-180E8BAFFC43}"/>
                </a:ext>
              </a:extLst>
            </p:cNvPr>
            <p:cNvSpPr/>
            <p:nvPr/>
          </p:nvSpPr>
          <p:spPr bwMode="auto">
            <a:xfrm>
              <a:off x="7696200" y="5105400"/>
              <a:ext cx="1295400" cy="1205013"/>
            </a:xfrm>
            <a:prstGeom prst="rect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EE2A4CA6-98AE-48B9-957E-C551ACFEC2FA}"/>
                </a:ext>
              </a:extLst>
            </p:cNvPr>
            <p:cNvSpPr txBox="1"/>
            <p:nvPr/>
          </p:nvSpPr>
          <p:spPr>
            <a:xfrm>
              <a:off x="8018122" y="5237718"/>
              <a:ext cx="973478" cy="36933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Amplitude Post-Test Above Target +3dB &amp; Dynamics Shift &gt;5%</a:t>
              </a: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5B685BD9-A5DC-495E-8ADA-5D646195D57C}"/>
                </a:ext>
              </a:extLst>
            </p:cNvPr>
            <p:cNvSpPr/>
            <p:nvPr/>
          </p:nvSpPr>
          <p:spPr bwMode="auto">
            <a:xfrm rot="5400000">
              <a:off x="7783487" y="5286563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2155A078-7F8E-4CB8-90FD-9215993F21F5}"/>
                </a:ext>
              </a:extLst>
            </p:cNvPr>
            <p:cNvSpPr/>
            <p:nvPr/>
          </p:nvSpPr>
          <p:spPr bwMode="auto">
            <a:xfrm rot="5400000">
              <a:off x="7783487" y="5777230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03043EC6-021F-4EFD-81D8-C6C9444D82D3}"/>
                </a:ext>
              </a:extLst>
            </p:cNvPr>
            <p:cNvSpPr txBox="1"/>
            <p:nvPr/>
          </p:nvSpPr>
          <p:spPr>
            <a:xfrm>
              <a:off x="8018122" y="5774551"/>
              <a:ext cx="973478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Amplitude Post-Test at/Below Target +3dB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D25091F8-BDB9-41C3-A01F-42B707DD9986}"/>
                </a:ext>
              </a:extLst>
            </p:cNvPr>
            <p:cNvSpPr txBox="1"/>
            <p:nvPr/>
          </p:nvSpPr>
          <p:spPr>
            <a:xfrm>
              <a:off x="7696200" y="6114018"/>
              <a:ext cx="12954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0000FF"/>
                  </a:solidFill>
                </a:rPr>
                <a:t>PTR Increase </a:t>
              </a:r>
              <a:r>
                <a:rPr lang="en-US" sz="800" b="1" dirty="0" err="1">
                  <a:solidFill>
                    <a:srgbClr val="0000FF"/>
                  </a:solidFill>
                </a:rPr>
                <a:t>Req’d</a:t>
              </a:r>
              <a:r>
                <a:rPr lang="en-US" sz="800" b="1" dirty="0">
                  <a:solidFill>
                    <a:srgbClr val="0000FF"/>
                  </a:solidFill>
                </a:rPr>
                <a:t>?</a:t>
              </a: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DD1D23F5-8AD9-43C6-AD31-B7922D8277C2}"/>
                </a:ext>
              </a:extLst>
            </p:cNvPr>
            <p:cNvSpPr/>
            <p:nvPr/>
          </p:nvSpPr>
          <p:spPr bwMode="auto">
            <a:xfrm>
              <a:off x="6248401" y="5105400"/>
              <a:ext cx="1371599" cy="12060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BA7E90BA-B740-4553-9831-0E6BDA158BB7}"/>
                </a:ext>
              </a:extLst>
            </p:cNvPr>
            <p:cNvSpPr txBox="1"/>
            <p:nvPr/>
          </p:nvSpPr>
          <p:spPr>
            <a:xfrm>
              <a:off x="6559236" y="5175250"/>
              <a:ext cx="1060764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PASS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≤ Target +3dB</a:t>
              </a: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BFBF3F61-0A4D-45D7-B15D-453BC9003B35}"/>
                </a:ext>
              </a:extLst>
            </p:cNvPr>
            <p:cNvSpPr/>
            <p:nvPr/>
          </p:nvSpPr>
          <p:spPr bwMode="auto">
            <a:xfrm rot="5400000">
              <a:off x="6324601" y="5179505"/>
              <a:ext cx="274320" cy="274320"/>
            </a:xfrm>
            <a:prstGeom prst="rect">
              <a:avLst/>
            </a:prstGeom>
            <a:solidFill>
              <a:srgbClr val="008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2835A79B-8BD8-429D-B622-0E747BEA14BD}"/>
                </a:ext>
              </a:extLst>
            </p:cNvPr>
            <p:cNvSpPr/>
            <p:nvPr/>
          </p:nvSpPr>
          <p:spPr bwMode="auto">
            <a:xfrm rot="5400000">
              <a:off x="6324601" y="5521076"/>
              <a:ext cx="274320" cy="274320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29291D70-81E4-48EE-AFBD-552EB8C3E0A8}"/>
                </a:ext>
              </a:extLst>
            </p:cNvPr>
            <p:cNvSpPr txBox="1"/>
            <p:nvPr/>
          </p:nvSpPr>
          <p:spPr>
            <a:xfrm>
              <a:off x="6286500" y="6127750"/>
              <a:ext cx="129953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0000FF"/>
                  </a:solidFill>
                </a:rPr>
                <a:t>Amplitude (Post-Test)</a:t>
              </a: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6A6CBC7E-BB4C-4F4F-8472-92FE539D4E94}"/>
                </a:ext>
              </a:extLst>
            </p:cNvPr>
            <p:cNvSpPr/>
            <p:nvPr/>
          </p:nvSpPr>
          <p:spPr bwMode="auto">
            <a:xfrm rot="5400000">
              <a:off x="6324601" y="5869886"/>
              <a:ext cx="274320" cy="274320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64BD2F8B-EC75-4117-8B37-76955C0C876F}"/>
                </a:ext>
              </a:extLst>
            </p:cNvPr>
            <p:cNvSpPr txBox="1"/>
            <p:nvPr/>
          </p:nvSpPr>
          <p:spPr>
            <a:xfrm>
              <a:off x="6563995" y="5867400"/>
              <a:ext cx="1056005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ABSOLUTE FAIL*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&gt; Target +6dB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DD787433-7CA3-4293-8C57-EBC2F2C1CB9D}"/>
                </a:ext>
              </a:extLst>
            </p:cNvPr>
            <p:cNvSpPr txBox="1"/>
            <p:nvPr/>
          </p:nvSpPr>
          <p:spPr>
            <a:xfrm>
              <a:off x="6559235" y="5474385"/>
              <a:ext cx="1060765" cy="36933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CONDITIONAL FAIL*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Between Target +3dB and Target +6dB</a:t>
              </a:r>
            </a:p>
          </p:txBody>
        </p:sp>
        <p:sp>
          <p:nvSpPr>
            <p:cNvPr id="144" name="Multiply 93">
              <a:extLst>
                <a:ext uri="{FF2B5EF4-FFF2-40B4-BE49-F238E27FC236}">
                  <a16:creationId xmlns:a16="http://schemas.microsoft.com/office/drawing/2014/main" id="{7B6BC50E-043E-4164-962A-B4A8CDB123FC}"/>
                </a:ext>
              </a:extLst>
            </p:cNvPr>
            <p:cNvSpPr/>
            <p:nvPr/>
          </p:nvSpPr>
          <p:spPr bwMode="auto">
            <a:xfrm>
              <a:off x="7783488" y="5799221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5" name="Multiply 94">
              <a:extLst>
                <a:ext uri="{FF2B5EF4-FFF2-40B4-BE49-F238E27FC236}">
                  <a16:creationId xmlns:a16="http://schemas.microsoft.com/office/drawing/2014/main" id="{DE714403-D687-47B1-B0B0-815EC88F02D2}"/>
                </a:ext>
              </a:extLst>
            </p:cNvPr>
            <p:cNvSpPr/>
            <p:nvPr/>
          </p:nvSpPr>
          <p:spPr bwMode="auto">
            <a:xfrm>
              <a:off x="6324601" y="5200650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F09D1445-C295-468E-ADA0-96C18FE86701}"/>
                </a:ext>
              </a:extLst>
            </p:cNvPr>
            <p:cNvSpPr txBox="1"/>
            <p:nvPr/>
          </p:nvSpPr>
          <p:spPr>
            <a:xfrm>
              <a:off x="7726180" y="5101372"/>
              <a:ext cx="401820" cy="21544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211D61BE-75BE-4902-95EA-E72C03AFDA43}"/>
                </a:ext>
              </a:extLst>
            </p:cNvPr>
            <p:cNvSpPr txBox="1"/>
            <p:nvPr/>
          </p:nvSpPr>
          <p:spPr>
            <a:xfrm>
              <a:off x="7724097" y="5596408"/>
              <a:ext cx="401820" cy="21544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</a:rPr>
                <a:t>NO</a:t>
              </a:r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20A1C86A-8CA1-4E34-A268-51B30A5E8C3F}"/>
              </a:ext>
            </a:extLst>
          </p:cNvPr>
          <p:cNvSpPr txBox="1"/>
          <p:nvPr/>
        </p:nvSpPr>
        <p:spPr>
          <a:xfrm>
            <a:off x="3124200" y="1937372"/>
            <a:ext cx="609600" cy="215444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-23dB</a:t>
            </a:r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3512CE20-0625-46E7-AC5C-79B65834D803}"/>
              </a:ext>
            </a:extLst>
          </p:cNvPr>
          <p:cNvCxnSpPr>
            <a:cxnSpLocks/>
            <a:stCxn id="152" idx="3"/>
          </p:cNvCxnSpPr>
          <p:nvPr/>
        </p:nvCxnSpPr>
        <p:spPr bwMode="auto">
          <a:xfrm>
            <a:off x="3733800" y="2045094"/>
            <a:ext cx="405063" cy="9628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C83EB283-DB83-42F1-BF92-F22E2E988A87}"/>
              </a:ext>
            </a:extLst>
          </p:cNvPr>
          <p:cNvSpPr txBox="1"/>
          <p:nvPr/>
        </p:nvSpPr>
        <p:spPr>
          <a:xfrm>
            <a:off x="3124200" y="1667786"/>
            <a:ext cx="609600" cy="215444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err="1"/>
              <a:t>XdB</a:t>
            </a:r>
            <a:endParaRPr lang="en-US" sz="800" b="1" dirty="0"/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192633E1-7F84-468E-9933-BD19B53E0321}"/>
              </a:ext>
            </a:extLst>
          </p:cNvPr>
          <p:cNvCxnSpPr>
            <a:cxnSpLocks/>
            <a:stCxn id="154" idx="3"/>
          </p:cNvCxnSpPr>
          <p:nvPr/>
        </p:nvCxnSpPr>
        <p:spPr bwMode="auto">
          <a:xfrm>
            <a:off x="3733800" y="1775508"/>
            <a:ext cx="405063" cy="74757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DD61984-2723-4E51-8EAB-6008061136A9}"/>
              </a:ext>
            </a:extLst>
          </p:cNvPr>
          <p:cNvGrpSpPr/>
          <p:nvPr/>
        </p:nvGrpSpPr>
        <p:grpSpPr>
          <a:xfrm>
            <a:off x="3834618" y="2777429"/>
            <a:ext cx="2240280" cy="707888"/>
            <a:chOff x="3581400" y="2438400"/>
            <a:chExt cx="2240280" cy="707888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A59EA56B-2AA2-4F07-8472-BE6269A7A5F3}"/>
                </a:ext>
              </a:extLst>
            </p:cNvPr>
            <p:cNvSpPr/>
            <p:nvPr/>
          </p:nvSpPr>
          <p:spPr bwMode="auto">
            <a:xfrm>
              <a:off x="3581400" y="2438400"/>
              <a:ext cx="2133600" cy="69917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37ED44FA-6D21-49FE-BEAB-DEDAE594B024}"/>
                </a:ext>
              </a:extLst>
            </p:cNvPr>
            <p:cNvCxnSpPr/>
            <p:nvPr/>
          </p:nvCxnSpPr>
          <p:spPr bwMode="auto">
            <a:xfrm>
              <a:off x="3657600" y="254635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494EBE94-E8CD-4D09-BBB7-B96290D7DD07}"/>
                </a:ext>
              </a:extLst>
            </p:cNvPr>
            <p:cNvCxnSpPr/>
            <p:nvPr/>
          </p:nvCxnSpPr>
          <p:spPr bwMode="auto">
            <a:xfrm>
              <a:off x="3657600" y="266700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6C193839-CECD-4416-B819-AB3A891ADF57}"/>
                </a:ext>
              </a:extLst>
            </p:cNvPr>
            <p:cNvSpPr txBox="1"/>
            <p:nvPr/>
          </p:nvSpPr>
          <p:spPr>
            <a:xfrm>
              <a:off x="4006850" y="2438402"/>
              <a:ext cx="18148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Pre-Test (0% BCW)</a:t>
              </a:r>
            </a:p>
            <a:p>
              <a:r>
                <a:rPr lang="en-US" sz="800" b="1" dirty="0"/>
                <a:t>Post-Test (100% BCW)</a:t>
              </a:r>
            </a:p>
            <a:p>
              <a:r>
                <a:rPr lang="en-US" sz="800" b="1" dirty="0"/>
                <a:t>Post-Test (300% BCW)</a:t>
              </a:r>
            </a:p>
            <a:p>
              <a:r>
                <a:rPr lang="en-US" sz="800" b="1" dirty="0"/>
                <a:t>2.6µm Preliminary Target</a:t>
              </a:r>
            </a:p>
            <a:p>
              <a:r>
                <a:rPr lang="en-US" sz="800" b="1" dirty="0"/>
                <a:t>2.6µm Preliminary Target + 3dB</a:t>
              </a: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9EE722A7-E7E2-4FE7-B7DD-9692D06E3FD4}"/>
                </a:ext>
              </a:extLst>
            </p:cNvPr>
            <p:cNvCxnSpPr/>
            <p:nvPr/>
          </p:nvCxnSpPr>
          <p:spPr bwMode="auto">
            <a:xfrm>
              <a:off x="3657600" y="2790825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44E27CEF-51AA-42DE-B154-B2348F03ADF6}"/>
                </a:ext>
              </a:extLst>
            </p:cNvPr>
            <p:cNvCxnSpPr/>
            <p:nvPr/>
          </p:nvCxnSpPr>
          <p:spPr bwMode="auto">
            <a:xfrm>
              <a:off x="3661410" y="2905497"/>
              <a:ext cx="3810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1443A776-5F71-443B-A457-F8164A2ACEEE}"/>
                </a:ext>
              </a:extLst>
            </p:cNvPr>
            <p:cNvCxnSpPr/>
            <p:nvPr/>
          </p:nvCxnSpPr>
          <p:spPr bwMode="auto">
            <a:xfrm>
              <a:off x="3657600" y="3017520"/>
              <a:ext cx="3810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2790A5E2-EDF6-4FAA-A528-28DD08193D99}"/>
              </a:ext>
            </a:extLst>
          </p:cNvPr>
          <p:cNvGrpSpPr/>
          <p:nvPr/>
        </p:nvGrpSpPr>
        <p:grpSpPr>
          <a:xfrm>
            <a:off x="3840480" y="5634334"/>
            <a:ext cx="1981200" cy="461666"/>
            <a:chOff x="3840480" y="5532121"/>
            <a:chExt cx="1981200" cy="461666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87049CAA-ADF7-4098-9BB4-F6C431F11193}"/>
                </a:ext>
              </a:extLst>
            </p:cNvPr>
            <p:cNvSpPr/>
            <p:nvPr/>
          </p:nvSpPr>
          <p:spPr bwMode="auto">
            <a:xfrm>
              <a:off x="3840480" y="5532121"/>
              <a:ext cx="1981200" cy="46166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D46B8AA8-A540-463D-B43F-BF20B1C23018}"/>
                </a:ext>
              </a:extLst>
            </p:cNvPr>
            <p:cNvCxnSpPr/>
            <p:nvPr/>
          </p:nvCxnSpPr>
          <p:spPr bwMode="auto">
            <a:xfrm>
              <a:off x="3916680" y="564007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30FCDA1E-F1CF-42AD-8E7D-A203A0F688F5}"/>
                </a:ext>
              </a:extLst>
            </p:cNvPr>
            <p:cNvCxnSpPr/>
            <p:nvPr/>
          </p:nvCxnSpPr>
          <p:spPr bwMode="auto">
            <a:xfrm>
              <a:off x="3916680" y="576072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6ED165E-D700-407F-96DF-F528E378EA4E}"/>
                </a:ext>
              </a:extLst>
            </p:cNvPr>
            <p:cNvSpPr txBox="1"/>
            <p:nvPr/>
          </p:nvSpPr>
          <p:spPr>
            <a:xfrm>
              <a:off x="4265930" y="5532122"/>
              <a:ext cx="15557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Pre-Test (0% BCW)</a:t>
              </a:r>
            </a:p>
            <a:p>
              <a:r>
                <a:rPr lang="en-US" sz="800" b="1" dirty="0"/>
                <a:t>Post-Test (100% BCW)</a:t>
              </a:r>
            </a:p>
            <a:p>
              <a:r>
                <a:rPr lang="en-US" sz="800" b="1" dirty="0"/>
                <a:t>Post-Test (300% BCW)</a:t>
              </a:r>
            </a:p>
          </p:txBody>
        </p: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8D5029C9-D229-4BDC-BEEF-35882B027F5E}"/>
                </a:ext>
              </a:extLst>
            </p:cNvPr>
            <p:cNvCxnSpPr/>
            <p:nvPr/>
          </p:nvCxnSpPr>
          <p:spPr bwMode="auto">
            <a:xfrm>
              <a:off x="3916680" y="5884545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B0B384CC-A135-4DBC-9F1C-98DBD74A1E3D}"/>
              </a:ext>
            </a:extLst>
          </p:cNvPr>
          <p:cNvSpPr txBox="1"/>
          <p:nvPr/>
        </p:nvSpPr>
        <p:spPr>
          <a:xfrm>
            <a:off x="76200" y="6620933"/>
            <a:ext cx="2667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Published By:  C. Li  3/2/2022</a:t>
            </a:r>
            <a:r>
              <a:rPr lang="en-US" sz="800" b="1" dirty="0">
                <a:solidFill>
                  <a:schemeClr val="tx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749530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" name="PLOT1">
            <a:extLst>
              <a:ext uri="{FF2B5EF4-FFF2-40B4-BE49-F238E27FC236}">
                <a16:creationId xmlns:a16="http://schemas.microsoft.com/office/drawing/2014/main" id="{87642B67-391B-456A-9773-652B302F6FAD}"/>
              </a:ext>
            </a:extLst>
          </p:cNvPr>
          <p:cNvGraphicFramePr>
            <a:graphicFrameLocks noGrp="1"/>
          </p:cNvGraphicFramePr>
          <p:nvPr>
            <p:ph type="pic" sz="quarter" idx="14"/>
            <p:extLst>
              <p:ext uri="{D42A27DB-BD31-4B8C-83A1-F6EECF244321}">
                <p14:modId xmlns:p14="http://schemas.microsoft.com/office/powerpoint/2010/main" val="1297773141"/>
              </p:ext>
            </p:extLst>
          </p:nvPr>
        </p:nvGraphicFramePr>
        <p:xfrm>
          <a:off x="91440" y="3932238"/>
          <a:ext cx="5943600" cy="256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7" name="Active Picture" r:id="rId3" imgW="4659840" imgH="2880000" progId="LMS.Test.Lab.ActivePicture.1">
                  <p:embed/>
                </p:oleObj>
              </mc:Choice>
              <mc:Fallback>
                <p:oleObj name="Active Picture" r:id="rId3" imgW="4659840" imgH="2880000" progId="LMS.Test.Lab.ActivePicture.1">
                  <p:embed/>
                  <p:pic>
                    <p:nvPicPr>
                      <p:cNvPr id="1026" name="PLOT1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" y="3932238"/>
                        <a:ext cx="5943600" cy="2560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" name="PLOT3">
            <a:extLst>
              <a:ext uri="{FF2B5EF4-FFF2-40B4-BE49-F238E27FC236}">
                <a16:creationId xmlns:a16="http://schemas.microsoft.com/office/drawing/2014/main" id="{44760241-4A80-4377-A110-365761BC3982}"/>
              </a:ext>
            </a:extLst>
          </p:cNvPr>
          <p:cNvGraphicFramePr>
            <a:graphicFrameLocks noGrp="1"/>
          </p:cNvGraphicFramePr>
          <p:nvPr>
            <p:ph type="pic" sz="quarter" idx="13"/>
            <p:extLst>
              <p:ext uri="{D42A27DB-BD31-4B8C-83A1-F6EECF244321}">
                <p14:modId xmlns:p14="http://schemas.microsoft.com/office/powerpoint/2010/main" val="3960258992"/>
              </p:ext>
            </p:extLst>
          </p:nvPr>
        </p:nvGraphicFramePr>
        <p:xfrm>
          <a:off x="91440" y="1006475"/>
          <a:ext cx="5943600" cy="255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8" name="Active Picture" r:id="rId5" imgW="4659840" imgH="2880000" progId="LMS.Test.Lab.ActivePicture.1">
                  <p:embed/>
                </p:oleObj>
              </mc:Choice>
              <mc:Fallback>
                <p:oleObj name="Active Picture" r:id="rId5" imgW="4659840" imgH="2880000" progId="LMS.Test.Lab.ActivePicture.1">
                  <p:embed/>
                  <p:pic>
                    <p:nvPicPr>
                      <p:cNvPr id="1028" name="PLOT3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" y="1006475"/>
                        <a:ext cx="5943600" cy="2559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33400" y="832104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Pinion Nose Vertical Vibration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832104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13</a:t>
            </a:r>
            <a:r>
              <a:rPr lang="en-US" sz="1200" b="1" baseline="30000" dirty="0">
                <a:solidFill>
                  <a:schemeClr val="tx1"/>
                </a:solidFill>
              </a:rPr>
              <a:t>th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b="1" dirty="0"/>
              <a:t>Order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62000" y="1143000"/>
            <a:ext cx="876300" cy="27699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+75Nm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7ECD3B-2845-414E-82C4-759984DE97DB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896112" y="381000"/>
            <a:ext cx="7333488" cy="400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9" tIns="45714" rIns="91429" bIns="45714">
            <a:spAutoFit/>
          </a:bodyPr>
          <a:lstStyle/>
          <a:p>
            <a:pPr marL="457200" indent="-457200" algn="ctr">
              <a:spcBef>
                <a:spcPts val="0"/>
              </a:spcBef>
              <a:defRPr/>
            </a:pPr>
            <a:r>
              <a:rPr lang="en-US" sz="2000" b="1" dirty="0">
                <a:solidFill>
                  <a:schemeClr val="tx1"/>
                </a:solidFill>
              </a:rPr>
              <a:t>Pre/Post BCW Durability NVH Results - </a:t>
            </a:r>
            <a:r>
              <a:rPr lang="en-US" sz="2000" b="1" i="1" dirty="0">
                <a:solidFill>
                  <a:srgbClr val="0000FF"/>
                </a:solidFill>
              </a:rPr>
              <a:t>Drive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endParaRPr lang="en-US" sz="2000" b="1" i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Footer Placeholder 2"/>
          <p:cNvSpPr txBox="1">
            <a:spLocks/>
          </p:cNvSpPr>
          <p:nvPr/>
        </p:nvSpPr>
        <p:spPr bwMode="auto">
          <a:xfrm>
            <a:off x="3733800" y="6591300"/>
            <a:ext cx="1690688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b="1" i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>
                    <a:lumMod val="50000"/>
                  </a:schemeClr>
                </a:solidFill>
              </a:rPr>
              <a:t>--AAM CONFIDENTIAL--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63440" y="3767328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13</a:t>
            </a:r>
            <a:r>
              <a:rPr lang="en-US" sz="1200" b="1" baseline="30000" dirty="0">
                <a:solidFill>
                  <a:schemeClr val="tx1"/>
                </a:solidFill>
              </a:rPr>
              <a:t>th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b="1" dirty="0"/>
              <a:t>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3767328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Torsional Acceleration – Telemetry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62000" y="4066401"/>
            <a:ext cx="876300" cy="27699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+75Nm</a:t>
            </a:r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5A78EDAA-253D-4F4E-A46E-7FE12D3E1CD8}"/>
              </a:ext>
            </a:extLst>
          </p:cNvPr>
          <p:cNvGrpSpPr/>
          <p:nvPr/>
        </p:nvGrpSpPr>
        <p:grpSpPr>
          <a:xfrm>
            <a:off x="6862132" y="6330950"/>
            <a:ext cx="2053268" cy="462698"/>
            <a:chOff x="6905945" y="6365624"/>
            <a:chExt cx="2053268" cy="462698"/>
          </a:xfrm>
        </p:grpSpPr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736DFD2F-6FF3-4435-AA64-852AE6B56012}"/>
                </a:ext>
              </a:extLst>
            </p:cNvPr>
            <p:cNvSpPr/>
            <p:nvPr/>
          </p:nvSpPr>
          <p:spPr bwMode="auto">
            <a:xfrm rot="5400000">
              <a:off x="8325485" y="6523224"/>
              <a:ext cx="274320" cy="27432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CF053155-63BC-4E63-AA74-12232C103D40}"/>
                </a:ext>
              </a:extLst>
            </p:cNvPr>
            <p:cNvSpPr/>
            <p:nvPr/>
          </p:nvSpPr>
          <p:spPr bwMode="auto">
            <a:xfrm rot="5400000">
              <a:off x="8641080" y="6523224"/>
              <a:ext cx="274320" cy="27432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53" name="Multiply 88">
              <a:extLst>
                <a:ext uri="{FF2B5EF4-FFF2-40B4-BE49-F238E27FC236}">
                  <a16:creationId xmlns:a16="http://schemas.microsoft.com/office/drawing/2014/main" id="{EADEC49F-089E-4E85-A1D0-E6944BBC5C8B}"/>
                </a:ext>
              </a:extLst>
            </p:cNvPr>
            <p:cNvSpPr/>
            <p:nvPr/>
          </p:nvSpPr>
          <p:spPr bwMode="auto">
            <a:xfrm>
              <a:off x="8640777" y="6546084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214C3A46-91E2-44F8-893B-111BC889B5C6}"/>
                </a:ext>
              </a:extLst>
            </p:cNvPr>
            <p:cNvSpPr txBox="1"/>
            <p:nvPr/>
          </p:nvSpPr>
          <p:spPr>
            <a:xfrm>
              <a:off x="8287358" y="6365624"/>
              <a:ext cx="356261" cy="2000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46F545A3-7BC7-4003-9890-2322A42F3D73}"/>
                </a:ext>
              </a:extLst>
            </p:cNvPr>
            <p:cNvSpPr txBox="1"/>
            <p:nvPr/>
          </p:nvSpPr>
          <p:spPr>
            <a:xfrm>
              <a:off x="8602952" y="6365625"/>
              <a:ext cx="356261" cy="2000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</a:rPr>
                <a:t>No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5AE4E40F-94EC-42C0-B5AA-803047B74AF3}"/>
                </a:ext>
              </a:extLst>
            </p:cNvPr>
            <p:cNvSpPr txBox="1"/>
            <p:nvPr/>
          </p:nvSpPr>
          <p:spPr>
            <a:xfrm>
              <a:off x="6905945" y="6489768"/>
              <a:ext cx="1447801" cy="33855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r"/>
              <a:r>
                <a:rPr lang="en-US" sz="800" b="1" dirty="0">
                  <a:solidFill>
                    <a:schemeClr val="tx1"/>
                  </a:solidFill>
                </a:rPr>
                <a:t>*Full Tear-Down</a:t>
              </a:r>
            </a:p>
            <a:p>
              <a:pPr algn="r"/>
              <a:r>
                <a:rPr lang="en-US" sz="800" b="1" dirty="0">
                  <a:solidFill>
                    <a:schemeClr val="tx1"/>
                  </a:solidFill>
                </a:rPr>
                <a:t>Analysis Required?</a:t>
              </a:r>
            </a:p>
          </p:txBody>
        </p:sp>
      </p:grpSp>
      <p:sp>
        <p:nvSpPr>
          <p:cNvPr id="157" name="TextBox 156">
            <a:extLst>
              <a:ext uri="{FF2B5EF4-FFF2-40B4-BE49-F238E27FC236}">
                <a16:creationId xmlns:a16="http://schemas.microsoft.com/office/drawing/2014/main" id="{3A365832-935E-4C0D-8BE3-63A7A0DEDFDB}"/>
              </a:ext>
            </a:extLst>
          </p:cNvPr>
          <p:cNvSpPr txBox="1"/>
          <p:nvPr/>
        </p:nvSpPr>
        <p:spPr>
          <a:xfrm>
            <a:off x="5410200" y="6400800"/>
            <a:ext cx="1752600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dirty="0"/>
              <a:t>NOTE:  NVH Requirement is at Post-100% BCW</a:t>
            </a:r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DF7CAED5-9AE1-4C25-81F2-1EFDE180BFCC}"/>
              </a:ext>
            </a:extLst>
          </p:cNvPr>
          <p:cNvGrpSpPr/>
          <p:nvPr/>
        </p:nvGrpSpPr>
        <p:grpSpPr>
          <a:xfrm>
            <a:off x="6248401" y="5101372"/>
            <a:ext cx="2743199" cy="1241822"/>
            <a:chOff x="6248401" y="5101372"/>
            <a:chExt cx="2743199" cy="1241822"/>
          </a:xfrm>
        </p:grpSpPr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1F4D9038-294C-4441-935A-31764A15E556}"/>
                </a:ext>
              </a:extLst>
            </p:cNvPr>
            <p:cNvSpPr/>
            <p:nvPr/>
          </p:nvSpPr>
          <p:spPr bwMode="auto">
            <a:xfrm>
              <a:off x="7696200" y="5105400"/>
              <a:ext cx="1295400" cy="1205013"/>
            </a:xfrm>
            <a:prstGeom prst="rect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B17701B5-ED49-4A01-93B8-05B4CE0F2171}"/>
                </a:ext>
              </a:extLst>
            </p:cNvPr>
            <p:cNvSpPr txBox="1"/>
            <p:nvPr/>
          </p:nvSpPr>
          <p:spPr>
            <a:xfrm>
              <a:off x="8018122" y="5237718"/>
              <a:ext cx="973478" cy="36933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Amplitude Post-Test Above Target +3dB &amp; Dynamics Shift &gt;5%</a:t>
              </a: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C9D9B3A8-AFF5-44E4-81FE-47C7A0AC3F76}"/>
                </a:ext>
              </a:extLst>
            </p:cNvPr>
            <p:cNvSpPr/>
            <p:nvPr/>
          </p:nvSpPr>
          <p:spPr bwMode="auto">
            <a:xfrm rot="5400000">
              <a:off x="7783487" y="5286563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F6E7B3AD-E78F-4B51-85F7-705AAA0045B7}"/>
                </a:ext>
              </a:extLst>
            </p:cNvPr>
            <p:cNvSpPr/>
            <p:nvPr/>
          </p:nvSpPr>
          <p:spPr bwMode="auto">
            <a:xfrm rot="5400000">
              <a:off x="7783487" y="5777230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5C08233A-64D7-45A4-A5A9-55CB6B3BEDE9}"/>
                </a:ext>
              </a:extLst>
            </p:cNvPr>
            <p:cNvSpPr txBox="1"/>
            <p:nvPr/>
          </p:nvSpPr>
          <p:spPr>
            <a:xfrm>
              <a:off x="8018122" y="5774551"/>
              <a:ext cx="973478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Amplitude Post-Test at/Below Target +3dB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BE801DD0-5B2A-49F3-B0CB-41C0AECFEFAD}"/>
                </a:ext>
              </a:extLst>
            </p:cNvPr>
            <p:cNvSpPr txBox="1"/>
            <p:nvPr/>
          </p:nvSpPr>
          <p:spPr>
            <a:xfrm>
              <a:off x="7696200" y="6114018"/>
              <a:ext cx="12954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0000FF"/>
                  </a:solidFill>
                </a:rPr>
                <a:t>PTR Increase </a:t>
              </a:r>
              <a:r>
                <a:rPr lang="en-US" sz="800" b="1" dirty="0" err="1">
                  <a:solidFill>
                    <a:srgbClr val="0000FF"/>
                  </a:solidFill>
                </a:rPr>
                <a:t>Req’d</a:t>
              </a:r>
              <a:r>
                <a:rPr lang="en-US" sz="800" b="1" dirty="0">
                  <a:solidFill>
                    <a:srgbClr val="0000FF"/>
                  </a:solidFill>
                </a:rPr>
                <a:t>?</a:t>
              </a: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45B39A75-5B70-462C-B9FC-EF69D1C1F0D0}"/>
                </a:ext>
              </a:extLst>
            </p:cNvPr>
            <p:cNvSpPr/>
            <p:nvPr/>
          </p:nvSpPr>
          <p:spPr bwMode="auto">
            <a:xfrm>
              <a:off x="6248401" y="5105400"/>
              <a:ext cx="1371599" cy="12060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02869205-DE60-46C4-BBEE-177E48975DAE}"/>
                </a:ext>
              </a:extLst>
            </p:cNvPr>
            <p:cNvSpPr txBox="1"/>
            <p:nvPr/>
          </p:nvSpPr>
          <p:spPr>
            <a:xfrm>
              <a:off x="6559236" y="5175250"/>
              <a:ext cx="1060764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PASS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≤ Target +3dB</a:t>
              </a: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46148576-6BFA-4167-A4BF-ECCD2501717B}"/>
                </a:ext>
              </a:extLst>
            </p:cNvPr>
            <p:cNvSpPr/>
            <p:nvPr/>
          </p:nvSpPr>
          <p:spPr bwMode="auto">
            <a:xfrm rot="5400000">
              <a:off x="6324601" y="5179505"/>
              <a:ext cx="274320" cy="274320"/>
            </a:xfrm>
            <a:prstGeom prst="rect">
              <a:avLst/>
            </a:prstGeom>
            <a:solidFill>
              <a:srgbClr val="008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5AA16D83-2A2F-4384-8AAF-997DB12A0103}"/>
                </a:ext>
              </a:extLst>
            </p:cNvPr>
            <p:cNvSpPr/>
            <p:nvPr/>
          </p:nvSpPr>
          <p:spPr bwMode="auto">
            <a:xfrm rot="5400000">
              <a:off x="6324601" y="5521076"/>
              <a:ext cx="274320" cy="274320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27827335-3B18-4B6E-A21C-3BE4B807DF2E}"/>
                </a:ext>
              </a:extLst>
            </p:cNvPr>
            <p:cNvSpPr txBox="1"/>
            <p:nvPr/>
          </p:nvSpPr>
          <p:spPr>
            <a:xfrm>
              <a:off x="6286500" y="6127750"/>
              <a:ext cx="129953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0000FF"/>
                  </a:solidFill>
                </a:rPr>
                <a:t>Amplitude (Post-Test)</a:t>
              </a: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F2F1546F-0C17-4FF8-A1B5-B7388E9B47B1}"/>
                </a:ext>
              </a:extLst>
            </p:cNvPr>
            <p:cNvSpPr/>
            <p:nvPr/>
          </p:nvSpPr>
          <p:spPr bwMode="auto">
            <a:xfrm rot="5400000">
              <a:off x="6324601" y="5869886"/>
              <a:ext cx="274320" cy="274320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A2D95F7A-D335-4156-B430-F34423E0E0A6}"/>
                </a:ext>
              </a:extLst>
            </p:cNvPr>
            <p:cNvSpPr txBox="1"/>
            <p:nvPr/>
          </p:nvSpPr>
          <p:spPr>
            <a:xfrm>
              <a:off x="6563995" y="5867400"/>
              <a:ext cx="1056005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ABSOLUTE FAIL*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&gt; Target +6dB</a:t>
              </a: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8B878D0F-A2C8-4AFC-AD8B-D2EEFCB01762}"/>
                </a:ext>
              </a:extLst>
            </p:cNvPr>
            <p:cNvSpPr txBox="1"/>
            <p:nvPr/>
          </p:nvSpPr>
          <p:spPr>
            <a:xfrm>
              <a:off x="6559235" y="5474385"/>
              <a:ext cx="1060765" cy="36933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CONDITIONAL FAIL*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Between Target +3dB and Target +6dB</a:t>
              </a:r>
            </a:p>
          </p:txBody>
        </p:sp>
        <p:sp>
          <p:nvSpPr>
            <p:cNvPr id="173" name="Multiply 93">
              <a:extLst>
                <a:ext uri="{FF2B5EF4-FFF2-40B4-BE49-F238E27FC236}">
                  <a16:creationId xmlns:a16="http://schemas.microsoft.com/office/drawing/2014/main" id="{D8FD8D94-82C8-41C6-8B2A-1FC78EC231CF}"/>
                </a:ext>
              </a:extLst>
            </p:cNvPr>
            <p:cNvSpPr/>
            <p:nvPr/>
          </p:nvSpPr>
          <p:spPr bwMode="auto">
            <a:xfrm>
              <a:off x="7783488" y="5799221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74" name="Multiply 94">
              <a:extLst>
                <a:ext uri="{FF2B5EF4-FFF2-40B4-BE49-F238E27FC236}">
                  <a16:creationId xmlns:a16="http://schemas.microsoft.com/office/drawing/2014/main" id="{18F4141F-745C-4252-90B7-1A90A31C0A1D}"/>
                </a:ext>
              </a:extLst>
            </p:cNvPr>
            <p:cNvSpPr/>
            <p:nvPr/>
          </p:nvSpPr>
          <p:spPr bwMode="auto">
            <a:xfrm>
              <a:off x="6324601" y="5200650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4B6CCA60-644F-47E7-8DE9-72E283BC75BA}"/>
                </a:ext>
              </a:extLst>
            </p:cNvPr>
            <p:cNvSpPr txBox="1"/>
            <p:nvPr/>
          </p:nvSpPr>
          <p:spPr>
            <a:xfrm>
              <a:off x="7726180" y="5101372"/>
              <a:ext cx="401820" cy="21544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370BB5D8-3A21-4D31-B852-F33BF2CA32F7}"/>
                </a:ext>
              </a:extLst>
            </p:cNvPr>
            <p:cNvSpPr txBox="1"/>
            <p:nvPr/>
          </p:nvSpPr>
          <p:spPr>
            <a:xfrm>
              <a:off x="7724097" y="5596408"/>
              <a:ext cx="401820" cy="21544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</a:rPr>
                <a:t>NO</a:t>
              </a:r>
            </a:p>
          </p:txBody>
        </p: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75F15E25-6D35-4B58-B13C-5F471446FADB}"/>
              </a:ext>
            </a:extLst>
          </p:cNvPr>
          <p:cNvSpPr txBox="1"/>
          <p:nvPr/>
        </p:nvSpPr>
        <p:spPr>
          <a:xfrm>
            <a:off x="1219200" y="2576951"/>
            <a:ext cx="609600" cy="215444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-30dB</a:t>
            </a:r>
          </a:p>
        </p:txBody>
      </p: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149628CE-8596-4E35-8C7C-EF6ED699443C}"/>
              </a:ext>
            </a:extLst>
          </p:cNvPr>
          <p:cNvCxnSpPr>
            <a:cxnSpLocks/>
            <a:stCxn id="186" idx="3"/>
          </p:cNvCxnSpPr>
          <p:nvPr/>
        </p:nvCxnSpPr>
        <p:spPr bwMode="auto">
          <a:xfrm>
            <a:off x="1828800" y="2684673"/>
            <a:ext cx="457200" cy="30549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6B6469C5-7B24-43F0-9F4D-3B70E4EB4834}"/>
              </a:ext>
            </a:extLst>
          </p:cNvPr>
          <p:cNvSpPr txBox="1"/>
          <p:nvPr/>
        </p:nvSpPr>
        <p:spPr>
          <a:xfrm>
            <a:off x="1219200" y="2307365"/>
            <a:ext cx="609600" cy="215444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err="1"/>
              <a:t>XdB</a:t>
            </a:r>
            <a:endParaRPr lang="en-US" sz="800" b="1" dirty="0"/>
          </a:p>
        </p:txBody>
      </p: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88AC2DCE-1716-4C38-A4C4-0E714B9E274B}"/>
              </a:ext>
            </a:extLst>
          </p:cNvPr>
          <p:cNvCxnSpPr>
            <a:cxnSpLocks/>
            <a:stCxn id="188" idx="3"/>
          </p:cNvCxnSpPr>
          <p:nvPr/>
        </p:nvCxnSpPr>
        <p:spPr bwMode="auto">
          <a:xfrm>
            <a:off x="1828800" y="2415087"/>
            <a:ext cx="457200" cy="118648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9BD01BA-1061-4C37-843D-E9D51751D003}"/>
              </a:ext>
            </a:extLst>
          </p:cNvPr>
          <p:cNvGrpSpPr/>
          <p:nvPr/>
        </p:nvGrpSpPr>
        <p:grpSpPr>
          <a:xfrm>
            <a:off x="3840480" y="5634334"/>
            <a:ext cx="1981200" cy="461666"/>
            <a:chOff x="3840480" y="5532121"/>
            <a:chExt cx="1981200" cy="461666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8259630-C576-4E6B-8612-B385AF24E165}"/>
                </a:ext>
              </a:extLst>
            </p:cNvPr>
            <p:cNvSpPr/>
            <p:nvPr/>
          </p:nvSpPr>
          <p:spPr bwMode="auto">
            <a:xfrm>
              <a:off x="3840480" y="5532121"/>
              <a:ext cx="1981200" cy="46166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E1F5A5E4-B002-4D1E-8F19-7C477EFCE024}"/>
                </a:ext>
              </a:extLst>
            </p:cNvPr>
            <p:cNvCxnSpPr/>
            <p:nvPr/>
          </p:nvCxnSpPr>
          <p:spPr bwMode="auto">
            <a:xfrm>
              <a:off x="3916680" y="564007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B4667432-48A3-4AE1-8552-7A82D93CAF34}"/>
                </a:ext>
              </a:extLst>
            </p:cNvPr>
            <p:cNvCxnSpPr/>
            <p:nvPr/>
          </p:nvCxnSpPr>
          <p:spPr bwMode="auto">
            <a:xfrm>
              <a:off x="3916680" y="576072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0B91502-256B-4CCF-A9B2-351F3B99A386}"/>
                </a:ext>
              </a:extLst>
            </p:cNvPr>
            <p:cNvSpPr txBox="1"/>
            <p:nvPr/>
          </p:nvSpPr>
          <p:spPr>
            <a:xfrm>
              <a:off x="4265930" y="5532122"/>
              <a:ext cx="15557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Pre-Test (0% BCW)</a:t>
              </a:r>
            </a:p>
            <a:p>
              <a:r>
                <a:rPr lang="en-US" sz="800" b="1" dirty="0"/>
                <a:t>Post-Test (100% BCW)</a:t>
              </a:r>
            </a:p>
            <a:p>
              <a:r>
                <a:rPr lang="en-US" sz="800" b="1" dirty="0"/>
                <a:t>Post-Test (300% BCW)</a:t>
              </a:r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F6BA62C1-5544-48B1-81E6-C9454E38D556}"/>
                </a:ext>
              </a:extLst>
            </p:cNvPr>
            <p:cNvCxnSpPr/>
            <p:nvPr/>
          </p:nvCxnSpPr>
          <p:spPr bwMode="auto">
            <a:xfrm>
              <a:off x="3916680" y="5884545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2" name="Text Box 9">
            <a:extLst>
              <a:ext uri="{FF2B5EF4-FFF2-40B4-BE49-F238E27FC236}">
                <a16:creationId xmlns:a16="http://schemas.microsoft.com/office/drawing/2014/main" id="{BF557A00-C86D-4698-8CCF-BE352CF2C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7103"/>
            <a:ext cx="7329487" cy="400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9" tIns="45714" rIns="91429" bIns="45714">
            <a:spAutoFit/>
          </a:bodyPr>
          <a:lstStyle/>
          <a:p>
            <a:pPr marL="457200" indent="-457200" algn="ctr">
              <a:spcBef>
                <a:spcPts val="0"/>
              </a:spcBef>
              <a:defRPr/>
            </a:pPr>
            <a:r>
              <a:rPr 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Stellantis CUSW 2-Speed PV PTU 131mm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526D354E-0CC8-40A5-AD02-0575FAD601C0}"/>
              </a:ext>
            </a:extLst>
          </p:cNvPr>
          <p:cNvGrpSpPr/>
          <p:nvPr/>
        </p:nvGrpSpPr>
        <p:grpSpPr>
          <a:xfrm>
            <a:off x="6248400" y="847725"/>
            <a:ext cx="2743200" cy="1313914"/>
            <a:chOff x="6324600" y="914400"/>
            <a:chExt cx="2743200" cy="1313914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1BA14529-39A2-4DF9-A71C-BEB6EB133951}"/>
                </a:ext>
              </a:extLst>
            </p:cNvPr>
            <p:cNvSpPr txBox="1"/>
            <p:nvPr/>
          </p:nvSpPr>
          <p:spPr>
            <a:xfrm>
              <a:off x="6324600" y="1151096"/>
              <a:ext cx="2743200" cy="10772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 Order: 282084</a:t>
              </a:r>
              <a:r>
                <a:rPr lang="en-US" sz="800" b="1" dirty="0">
                  <a:solidFill>
                    <a:schemeClr val="tx1"/>
                  </a:solidFill>
                </a:rPr>
                <a:t/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 Dyno: RHTC AWD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Test(s) Performed: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Pre-Test (2/10/2022)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Post-100% (3/2/2022)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Post-300% (n/a)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PTL Test Order:  282083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PTL Sample Number: 0002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1D327A9A-5B60-4AB2-B0FD-99AEBD649D42}"/>
                </a:ext>
              </a:extLst>
            </p:cNvPr>
            <p:cNvSpPr txBox="1"/>
            <p:nvPr/>
          </p:nvSpPr>
          <p:spPr>
            <a:xfrm>
              <a:off x="7010400" y="914400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Testing Information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26337DD-941A-4FE9-8510-0CA4DC8C06A1}"/>
              </a:ext>
            </a:extLst>
          </p:cNvPr>
          <p:cNvGrpSpPr/>
          <p:nvPr/>
        </p:nvGrpSpPr>
        <p:grpSpPr>
          <a:xfrm>
            <a:off x="6248400" y="2197715"/>
            <a:ext cx="2743200" cy="1016585"/>
            <a:chOff x="6324600" y="2401253"/>
            <a:chExt cx="2743200" cy="1016585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A09DF4B-BE77-4445-AF2F-BCBC3900F962}"/>
                </a:ext>
              </a:extLst>
            </p:cNvPr>
            <p:cNvSpPr txBox="1"/>
            <p:nvPr/>
          </p:nvSpPr>
          <p:spPr>
            <a:xfrm>
              <a:off x="6324600" y="2633008"/>
              <a:ext cx="2743200" cy="7848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Design Level: PV (diff re-sourcing)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P/N: 68333255AE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S/N: T36P22024115524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Ratio: 2.73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Prop Info: PS1247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E1B33D7B-7554-43BF-A41F-584B97424774}"/>
                </a:ext>
              </a:extLst>
            </p:cNvPr>
            <p:cNvSpPr txBox="1"/>
            <p:nvPr/>
          </p:nvSpPr>
          <p:spPr>
            <a:xfrm>
              <a:off x="7010400" y="2401253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Part Information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65FD9B8C-D090-4C72-9CC4-CC6296DADDEF}"/>
              </a:ext>
            </a:extLst>
          </p:cNvPr>
          <p:cNvGrpSpPr/>
          <p:nvPr/>
        </p:nvGrpSpPr>
        <p:grpSpPr>
          <a:xfrm>
            <a:off x="6248400" y="3291101"/>
            <a:ext cx="2743200" cy="1017800"/>
            <a:chOff x="6248400" y="3376983"/>
            <a:chExt cx="2743200" cy="1017800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4D16978-435D-4FDE-B725-00E9B80C8F40}"/>
                </a:ext>
              </a:extLst>
            </p:cNvPr>
            <p:cNvSpPr txBox="1"/>
            <p:nvPr/>
          </p:nvSpPr>
          <p:spPr>
            <a:xfrm>
              <a:off x="6248400" y="3609953"/>
              <a:ext cx="2743200" cy="7848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t" anchorCtr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/>
                <a:t>Drive (Amplitude vs. Target +3dB):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900" dirty="0"/>
                <a:t>Post-100%: </a:t>
              </a:r>
              <a:r>
                <a:rPr lang="en-US" sz="900" dirty="0">
                  <a:solidFill>
                    <a:srgbClr val="0000FF"/>
                  </a:solidFill>
                </a:rPr>
                <a:t>-</a:t>
              </a:r>
              <a:r>
                <a:rPr lang="en-US" sz="900" dirty="0">
                  <a:solidFill>
                    <a:schemeClr val="tx1"/>
                  </a:solidFill>
                </a:rPr>
                <a:t>30dB(100</a:t>
              </a:r>
              <a:r>
                <a:rPr lang="en-US" sz="900" dirty="0"/>
                <a:t>%)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Post-300%: n/</a:t>
              </a:r>
              <a:r>
                <a:rPr lang="en-US" sz="900" dirty="0" err="1">
                  <a:solidFill>
                    <a:schemeClr val="tx1"/>
                  </a:solidFill>
                </a:rPr>
                <a:t>adB</a:t>
              </a:r>
              <a:r>
                <a:rPr lang="en-US" sz="900" dirty="0">
                  <a:solidFill>
                    <a:schemeClr val="tx1"/>
                  </a:solidFill>
                </a:rPr>
                <a:t>(300%)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endParaRPr lang="en-US" sz="900" dirty="0">
                <a:solidFill>
                  <a:schemeClr val="tx1"/>
                </a:solidFill>
              </a:endParaRP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Comments: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E62F526B-39C6-4CBE-A225-B5A0821E6E0A}"/>
                </a:ext>
              </a:extLst>
            </p:cNvPr>
            <p:cNvSpPr txBox="1"/>
            <p:nvPr/>
          </p:nvSpPr>
          <p:spPr>
            <a:xfrm>
              <a:off x="6934200" y="3376983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Testing Results</a:t>
              </a:r>
            </a:p>
          </p:txBody>
        </p: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72AB4835-6BB1-4CAF-A873-E15C1BF1BD04}"/>
              </a:ext>
            </a:extLst>
          </p:cNvPr>
          <p:cNvSpPr txBox="1"/>
          <p:nvPr/>
        </p:nvSpPr>
        <p:spPr>
          <a:xfrm>
            <a:off x="76200" y="6620933"/>
            <a:ext cx="2667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Published By:  C. Li  3/2/2022</a:t>
            </a:r>
            <a:r>
              <a:rPr lang="en-US" sz="800" b="1" dirty="0">
                <a:solidFill>
                  <a:schemeClr val="tx1"/>
                </a:solidFill>
              </a:rPr>
              <a:t/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88DBF0AA-1902-440D-9709-FCEE6739067C}"/>
              </a:ext>
            </a:extLst>
          </p:cNvPr>
          <p:cNvGrpSpPr/>
          <p:nvPr/>
        </p:nvGrpSpPr>
        <p:grpSpPr>
          <a:xfrm>
            <a:off x="3843411" y="2748320"/>
            <a:ext cx="2240280" cy="707888"/>
            <a:chOff x="3581400" y="2438400"/>
            <a:chExt cx="2240280" cy="707888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3F3E55FE-BAAA-4AA8-A096-26464C4D0F87}"/>
                </a:ext>
              </a:extLst>
            </p:cNvPr>
            <p:cNvSpPr/>
            <p:nvPr/>
          </p:nvSpPr>
          <p:spPr bwMode="auto">
            <a:xfrm>
              <a:off x="3581400" y="2438400"/>
              <a:ext cx="2133600" cy="69917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3A1EFDB8-3E1C-4F19-A4C5-DF26FFD4D17C}"/>
                </a:ext>
              </a:extLst>
            </p:cNvPr>
            <p:cNvCxnSpPr/>
            <p:nvPr/>
          </p:nvCxnSpPr>
          <p:spPr bwMode="auto">
            <a:xfrm>
              <a:off x="3657600" y="254635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621B8AB7-E5FC-48F6-890E-5FCF35A4FA9F}"/>
                </a:ext>
              </a:extLst>
            </p:cNvPr>
            <p:cNvCxnSpPr/>
            <p:nvPr/>
          </p:nvCxnSpPr>
          <p:spPr bwMode="auto">
            <a:xfrm>
              <a:off x="3657600" y="266700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6CDE317B-247B-4524-92AA-44DBD48D435E}"/>
                </a:ext>
              </a:extLst>
            </p:cNvPr>
            <p:cNvSpPr txBox="1"/>
            <p:nvPr/>
          </p:nvSpPr>
          <p:spPr>
            <a:xfrm>
              <a:off x="4006850" y="2438402"/>
              <a:ext cx="18148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Pre-Test (0% BCW)</a:t>
              </a:r>
            </a:p>
            <a:p>
              <a:r>
                <a:rPr lang="en-US" sz="800" b="1" dirty="0"/>
                <a:t>Post-Test (100% BCW)</a:t>
              </a:r>
            </a:p>
            <a:p>
              <a:r>
                <a:rPr lang="en-US" sz="800" b="1" dirty="0"/>
                <a:t>Post-Test (300% BCW)</a:t>
              </a:r>
            </a:p>
            <a:p>
              <a:r>
                <a:rPr lang="en-US" sz="800" b="1" dirty="0"/>
                <a:t>2.6µm Preliminary Target</a:t>
              </a:r>
            </a:p>
            <a:p>
              <a:r>
                <a:rPr lang="en-US" sz="800" b="1" dirty="0"/>
                <a:t>2.6µm Preliminary Target + 3dB</a:t>
              </a:r>
            </a:p>
          </p:txBody>
        </p: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1420A5CE-CD3A-4F61-B5D6-FE3242209B24}"/>
                </a:ext>
              </a:extLst>
            </p:cNvPr>
            <p:cNvCxnSpPr/>
            <p:nvPr/>
          </p:nvCxnSpPr>
          <p:spPr bwMode="auto">
            <a:xfrm>
              <a:off x="3657600" y="2790825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DCD5F577-5869-4572-A88D-11B74EBB429D}"/>
                </a:ext>
              </a:extLst>
            </p:cNvPr>
            <p:cNvCxnSpPr/>
            <p:nvPr/>
          </p:nvCxnSpPr>
          <p:spPr bwMode="auto">
            <a:xfrm>
              <a:off x="3661410" y="2905497"/>
              <a:ext cx="3810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8125E307-2811-4F4D-855E-F33586C248CA}"/>
                </a:ext>
              </a:extLst>
            </p:cNvPr>
            <p:cNvCxnSpPr/>
            <p:nvPr/>
          </p:nvCxnSpPr>
          <p:spPr bwMode="auto">
            <a:xfrm>
              <a:off x="3657600" y="3017520"/>
              <a:ext cx="3810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121B2B61-1086-4F44-83A0-BF5F606662EC}"/>
              </a:ext>
            </a:extLst>
          </p:cNvPr>
          <p:cNvSpPr txBox="1"/>
          <p:nvPr/>
        </p:nvSpPr>
        <p:spPr>
          <a:xfrm>
            <a:off x="6248986" y="4412158"/>
            <a:ext cx="2742614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800" b="1" dirty="0"/>
              <a:t>Reference KL Vehicle instrumentation showed vehicle coast was actual a light drive torque (i.e. +75Nm)</a:t>
            </a:r>
          </a:p>
        </p:txBody>
      </p:sp>
    </p:spTree>
    <p:extLst>
      <p:ext uri="{BB962C8B-B14F-4D97-AF65-F5344CB8AC3E}">
        <p14:creationId xmlns:p14="http://schemas.microsoft.com/office/powerpoint/2010/main" val="2433988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" name="PLOT3">
            <a:extLst>
              <a:ext uri="{FF2B5EF4-FFF2-40B4-BE49-F238E27FC236}">
                <a16:creationId xmlns:a16="http://schemas.microsoft.com/office/drawing/2014/main" id="{57FC9BEA-A085-4F85-961A-C31F005E37D8}"/>
              </a:ext>
            </a:extLst>
          </p:cNvPr>
          <p:cNvGraphicFramePr>
            <a:graphicFrameLocks noGrp="1"/>
          </p:cNvGraphicFramePr>
          <p:nvPr>
            <p:ph type="pic" sz="quarter" idx="13"/>
            <p:extLst>
              <p:ext uri="{D42A27DB-BD31-4B8C-83A1-F6EECF244321}">
                <p14:modId xmlns:p14="http://schemas.microsoft.com/office/powerpoint/2010/main" val="2495929534"/>
              </p:ext>
            </p:extLst>
          </p:nvPr>
        </p:nvGraphicFramePr>
        <p:xfrm>
          <a:off x="91440" y="1006475"/>
          <a:ext cx="5943600" cy="255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Active Picture" r:id="rId3" imgW="4659840" imgH="2880000" progId="LMS.Test.Lab.ActivePicture.1">
                  <p:embed/>
                </p:oleObj>
              </mc:Choice>
              <mc:Fallback>
                <p:oleObj name="Active Picture" r:id="rId3" imgW="4659840" imgH="2880000" progId="LMS.Test.Lab.ActivePicture.1">
                  <p:embed/>
                  <p:pic>
                    <p:nvPicPr>
                      <p:cNvPr id="1028" name="PLOT3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" y="1006475"/>
                        <a:ext cx="5943600" cy="2559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" name="PLOT1">
            <a:extLst>
              <a:ext uri="{FF2B5EF4-FFF2-40B4-BE49-F238E27FC236}">
                <a16:creationId xmlns:a16="http://schemas.microsoft.com/office/drawing/2014/main" id="{5EE1E34D-85D8-4AE3-A76E-E0F9C7763528}"/>
              </a:ext>
            </a:extLst>
          </p:cNvPr>
          <p:cNvGraphicFramePr>
            <a:graphicFrameLocks noGrp="1"/>
          </p:cNvGraphicFramePr>
          <p:nvPr>
            <p:ph type="pic" sz="quarter" idx="14"/>
            <p:extLst>
              <p:ext uri="{D42A27DB-BD31-4B8C-83A1-F6EECF244321}">
                <p14:modId xmlns:p14="http://schemas.microsoft.com/office/powerpoint/2010/main" val="2198748598"/>
              </p:ext>
            </p:extLst>
          </p:nvPr>
        </p:nvGraphicFramePr>
        <p:xfrm>
          <a:off x="91439" y="3932238"/>
          <a:ext cx="5943599" cy="256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Active Picture" r:id="rId5" imgW="4659840" imgH="2880000" progId="LMS.Test.Lab.ActivePicture.1">
                  <p:embed/>
                </p:oleObj>
              </mc:Choice>
              <mc:Fallback>
                <p:oleObj name="Active Picture" r:id="rId5" imgW="4659840" imgH="2880000" progId="LMS.Test.Lab.ActivePicture.1">
                  <p:embed/>
                  <p:pic>
                    <p:nvPicPr>
                      <p:cNvPr id="1026" name="PLOT1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39" y="3932238"/>
                        <a:ext cx="5943599" cy="2560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33400" y="832104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Pinion Nose Vertical Vibration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832104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13</a:t>
            </a:r>
            <a:r>
              <a:rPr lang="en-US" sz="1200" b="1" baseline="30000" dirty="0">
                <a:solidFill>
                  <a:schemeClr val="tx1"/>
                </a:solidFill>
              </a:rPr>
              <a:t>th</a:t>
            </a:r>
            <a:r>
              <a:rPr lang="en-US" sz="1200" b="1" dirty="0">
                <a:solidFill>
                  <a:schemeClr val="tx1"/>
                </a:solidFill>
              </a:rPr>
              <a:t> Order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62000" y="1143000"/>
            <a:ext cx="876300" cy="27699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-75Nm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7ECD3B-2845-414E-82C4-759984DE97DB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896112" y="381000"/>
            <a:ext cx="7333488" cy="400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9" tIns="45714" rIns="91429" bIns="45714">
            <a:spAutoFit/>
          </a:bodyPr>
          <a:lstStyle/>
          <a:p>
            <a:pPr marL="457200" indent="-457200" algn="ctr">
              <a:spcBef>
                <a:spcPts val="0"/>
              </a:spcBef>
              <a:defRPr/>
            </a:pPr>
            <a:r>
              <a:rPr lang="en-US" sz="2000" b="1" dirty="0">
                <a:solidFill>
                  <a:schemeClr val="tx1"/>
                </a:solidFill>
              </a:rPr>
              <a:t>Pre/Post BCW Durability NVH Results - </a:t>
            </a:r>
            <a:r>
              <a:rPr lang="en-US" sz="2000" b="1" i="1" dirty="0">
                <a:solidFill>
                  <a:srgbClr val="0000FF"/>
                </a:solidFill>
              </a:rPr>
              <a:t>Drive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endParaRPr lang="en-US" sz="2000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Footer Placeholder 2"/>
          <p:cNvSpPr txBox="1">
            <a:spLocks/>
          </p:cNvSpPr>
          <p:nvPr/>
        </p:nvSpPr>
        <p:spPr bwMode="auto">
          <a:xfrm>
            <a:off x="3733800" y="6591300"/>
            <a:ext cx="1690688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b="1" i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>
                    <a:lumMod val="50000"/>
                  </a:schemeClr>
                </a:solidFill>
              </a:rPr>
              <a:t>--AAM CONFIDENTIAL--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63440" y="3767328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13</a:t>
            </a:r>
            <a:r>
              <a:rPr lang="en-US" sz="1200" b="1" baseline="30000" dirty="0">
                <a:solidFill>
                  <a:schemeClr val="tx1"/>
                </a:solidFill>
              </a:rPr>
              <a:t>th</a:t>
            </a:r>
            <a:r>
              <a:rPr lang="en-US" sz="1200" b="1" dirty="0">
                <a:solidFill>
                  <a:schemeClr val="tx1"/>
                </a:solidFill>
              </a:rPr>
              <a:t> 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3767328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Torsional Acceleration – Telemetry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62000" y="4066401"/>
            <a:ext cx="876300" cy="27699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-75Nm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06D5C482-073C-4930-9572-2036FCC9DEE5}"/>
              </a:ext>
            </a:extLst>
          </p:cNvPr>
          <p:cNvGrpSpPr/>
          <p:nvPr/>
        </p:nvGrpSpPr>
        <p:grpSpPr>
          <a:xfrm>
            <a:off x="6862132" y="6330950"/>
            <a:ext cx="2053268" cy="462698"/>
            <a:chOff x="6905945" y="6365624"/>
            <a:chExt cx="2053268" cy="462698"/>
          </a:xfrm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793AFA0D-C47B-4EC5-8DEE-B109BF6BC79D}"/>
                </a:ext>
              </a:extLst>
            </p:cNvPr>
            <p:cNvSpPr/>
            <p:nvPr/>
          </p:nvSpPr>
          <p:spPr bwMode="auto">
            <a:xfrm rot="5400000">
              <a:off x="8325485" y="6523224"/>
              <a:ext cx="274320" cy="27432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7286ED2-3C72-4B24-A866-BEDE98FA329A}"/>
                </a:ext>
              </a:extLst>
            </p:cNvPr>
            <p:cNvSpPr/>
            <p:nvPr/>
          </p:nvSpPr>
          <p:spPr bwMode="auto">
            <a:xfrm rot="5400000">
              <a:off x="8641080" y="6523224"/>
              <a:ext cx="274320" cy="27432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94" name="Multiply 88">
              <a:extLst>
                <a:ext uri="{FF2B5EF4-FFF2-40B4-BE49-F238E27FC236}">
                  <a16:creationId xmlns:a16="http://schemas.microsoft.com/office/drawing/2014/main" id="{FBA1DB59-EF2B-478A-A2D2-5CCA68D5A62D}"/>
                </a:ext>
              </a:extLst>
            </p:cNvPr>
            <p:cNvSpPr/>
            <p:nvPr/>
          </p:nvSpPr>
          <p:spPr bwMode="auto">
            <a:xfrm>
              <a:off x="8640777" y="6546084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AE40997-C29B-449F-B2A2-AB5B6FFFDD6B}"/>
                </a:ext>
              </a:extLst>
            </p:cNvPr>
            <p:cNvSpPr txBox="1"/>
            <p:nvPr/>
          </p:nvSpPr>
          <p:spPr>
            <a:xfrm>
              <a:off x="8287358" y="6365624"/>
              <a:ext cx="356261" cy="2000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C3939F34-FB82-4081-994A-FCCBEDE1FE9D}"/>
                </a:ext>
              </a:extLst>
            </p:cNvPr>
            <p:cNvSpPr txBox="1"/>
            <p:nvPr/>
          </p:nvSpPr>
          <p:spPr>
            <a:xfrm>
              <a:off x="8602952" y="6365625"/>
              <a:ext cx="356261" cy="2000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</a:rPr>
                <a:t>No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CDA0F4E-DF20-4BF8-A385-23888C47D05D}"/>
                </a:ext>
              </a:extLst>
            </p:cNvPr>
            <p:cNvSpPr txBox="1"/>
            <p:nvPr/>
          </p:nvSpPr>
          <p:spPr>
            <a:xfrm>
              <a:off x="6905945" y="6489768"/>
              <a:ext cx="1447801" cy="33855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r"/>
              <a:r>
                <a:rPr lang="en-US" sz="800" b="1" dirty="0">
                  <a:solidFill>
                    <a:schemeClr val="tx1"/>
                  </a:solidFill>
                </a:rPr>
                <a:t>*Full Tear-Down</a:t>
              </a:r>
            </a:p>
            <a:p>
              <a:pPr algn="r"/>
              <a:r>
                <a:rPr lang="en-US" sz="800" b="1" dirty="0">
                  <a:solidFill>
                    <a:schemeClr val="tx1"/>
                  </a:solidFill>
                </a:rPr>
                <a:t>Analysis Required?</a:t>
              </a:r>
            </a:p>
          </p:txBody>
        </p: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38D2440B-BC42-4F8B-9810-02DE479D3382}"/>
              </a:ext>
            </a:extLst>
          </p:cNvPr>
          <p:cNvSpPr txBox="1"/>
          <p:nvPr/>
        </p:nvSpPr>
        <p:spPr>
          <a:xfrm>
            <a:off x="5410200" y="6400800"/>
            <a:ext cx="1752600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dirty="0"/>
              <a:t>NOTE:  NVH Requirement is at Post-100% BCW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725AB326-8358-4032-AC60-8A2FE775CE1B}"/>
              </a:ext>
            </a:extLst>
          </p:cNvPr>
          <p:cNvGrpSpPr/>
          <p:nvPr/>
        </p:nvGrpSpPr>
        <p:grpSpPr>
          <a:xfrm>
            <a:off x="6248401" y="5101372"/>
            <a:ext cx="2743199" cy="1241822"/>
            <a:chOff x="6248401" y="5101372"/>
            <a:chExt cx="2743199" cy="1241822"/>
          </a:xfrm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53036F84-B70F-4BA6-AA5C-A81DFA0FBDA7}"/>
                </a:ext>
              </a:extLst>
            </p:cNvPr>
            <p:cNvSpPr/>
            <p:nvPr/>
          </p:nvSpPr>
          <p:spPr bwMode="auto">
            <a:xfrm>
              <a:off x="7696200" y="5105400"/>
              <a:ext cx="1295400" cy="1205013"/>
            </a:xfrm>
            <a:prstGeom prst="rect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B8D4CF2A-EFBC-4DAC-B3B1-7AB76341F92D}"/>
                </a:ext>
              </a:extLst>
            </p:cNvPr>
            <p:cNvSpPr txBox="1"/>
            <p:nvPr/>
          </p:nvSpPr>
          <p:spPr>
            <a:xfrm>
              <a:off x="8018122" y="5237718"/>
              <a:ext cx="973478" cy="36933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Amplitude Post-Test Above Target +3dB &amp; Dynamics Shift &gt;5%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8E5EC54E-6994-40E8-AB9E-9E254A25FD44}"/>
                </a:ext>
              </a:extLst>
            </p:cNvPr>
            <p:cNvSpPr/>
            <p:nvPr/>
          </p:nvSpPr>
          <p:spPr bwMode="auto">
            <a:xfrm rot="5400000">
              <a:off x="7783487" y="5286563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79B3EE81-803F-4D40-8FDC-C0B60B0BDCE0}"/>
                </a:ext>
              </a:extLst>
            </p:cNvPr>
            <p:cNvSpPr/>
            <p:nvPr/>
          </p:nvSpPr>
          <p:spPr bwMode="auto">
            <a:xfrm rot="5400000">
              <a:off x="7783487" y="5777230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54A4D378-C4D6-4CDF-B643-91484AB1CC2B}"/>
                </a:ext>
              </a:extLst>
            </p:cNvPr>
            <p:cNvSpPr txBox="1"/>
            <p:nvPr/>
          </p:nvSpPr>
          <p:spPr>
            <a:xfrm>
              <a:off x="8018122" y="5774551"/>
              <a:ext cx="973478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Amplitude Post-Test at/Below Target +3dB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897AFDC7-876A-49E5-B36E-E9AED8281ECD}"/>
                </a:ext>
              </a:extLst>
            </p:cNvPr>
            <p:cNvSpPr txBox="1"/>
            <p:nvPr/>
          </p:nvSpPr>
          <p:spPr>
            <a:xfrm>
              <a:off x="7696200" y="6114018"/>
              <a:ext cx="12954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0000FF"/>
                  </a:solidFill>
                </a:rPr>
                <a:t>PTR Increase </a:t>
              </a:r>
              <a:r>
                <a:rPr lang="en-US" sz="800" b="1" dirty="0" err="1">
                  <a:solidFill>
                    <a:srgbClr val="0000FF"/>
                  </a:solidFill>
                </a:rPr>
                <a:t>Req’d</a:t>
              </a:r>
              <a:r>
                <a:rPr lang="en-US" sz="800" b="1" dirty="0">
                  <a:solidFill>
                    <a:srgbClr val="0000FF"/>
                  </a:solidFill>
                </a:rPr>
                <a:t>?</a:t>
              </a: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C146FE08-1AE9-4E45-A82B-FA8EA3E9C714}"/>
                </a:ext>
              </a:extLst>
            </p:cNvPr>
            <p:cNvSpPr/>
            <p:nvPr/>
          </p:nvSpPr>
          <p:spPr bwMode="auto">
            <a:xfrm>
              <a:off x="6248401" y="5105400"/>
              <a:ext cx="1371599" cy="12060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40EE4AF7-D93D-4119-80B3-1A3D4D28AA2B}"/>
                </a:ext>
              </a:extLst>
            </p:cNvPr>
            <p:cNvSpPr txBox="1"/>
            <p:nvPr/>
          </p:nvSpPr>
          <p:spPr>
            <a:xfrm>
              <a:off x="6559236" y="5175250"/>
              <a:ext cx="1060764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PASS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≤ Target +3dB</a:t>
              </a: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C8C89E49-6FC6-424C-95CA-C7542514DFE6}"/>
                </a:ext>
              </a:extLst>
            </p:cNvPr>
            <p:cNvSpPr/>
            <p:nvPr/>
          </p:nvSpPr>
          <p:spPr bwMode="auto">
            <a:xfrm rot="5400000">
              <a:off x="6324601" y="5179505"/>
              <a:ext cx="274320" cy="274320"/>
            </a:xfrm>
            <a:prstGeom prst="rect">
              <a:avLst/>
            </a:prstGeom>
            <a:solidFill>
              <a:srgbClr val="008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EDB5EAE1-BF6E-4407-8A50-6CB3A1957C0B}"/>
                </a:ext>
              </a:extLst>
            </p:cNvPr>
            <p:cNvSpPr/>
            <p:nvPr/>
          </p:nvSpPr>
          <p:spPr bwMode="auto">
            <a:xfrm rot="5400000">
              <a:off x="6324601" y="5521076"/>
              <a:ext cx="274320" cy="274320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A42734DC-0EAD-464A-B326-5BE46E849B20}"/>
                </a:ext>
              </a:extLst>
            </p:cNvPr>
            <p:cNvSpPr txBox="1"/>
            <p:nvPr/>
          </p:nvSpPr>
          <p:spPr>
            <a:xfrm>
              <a:off x="6286500" y="6127750"/>
              <a:ext cx="129953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0000FF"/>
                  </a:solidFill>
                </a:rPr>
                <a:t>Amplitude (Post-Test)</a:t>
              </a: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A6095F2C-A212-4C6A-B7B2-99E21C30EED9}"/>
                </a:ext>
              </a:extLst>
            </p:cNvPr>
            <p:cNvSpPr/>
            <p:nvPr/>
          </p:nvSpPr>
          <p:spPr bwMode="auto">
            <a:xfrm rot="5400000">
              <a:off x="6324601" y="5869886"/>
              <a:ext cx="274320" cy="274320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5A7939F0-5BB4-4B3F-9CC2-64C536C7BA59}"/>
                </a:ext>
              </a:extLst>
            </p:cNvPr>
            <p:cNvSpPr txBox="1"/>
            <p:nvPr/>
          </p:nvSpPr>
          <p:spPr>
            <a:xfrm>
              <a:off x="6563995" y="5867400"/>
              <a:ext cx="1056005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ABSOLUTE FAIL*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&gt; Target +6dB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7BEA17FE-D99C-48C4-800D-85367F8D0065}"/>
                </a:ext>
              </a:extLst>
            </p:cNvPr>
            <p:cNvSpPr txBox="1"/>
            <p:nvPr/>
          </p:nvSpPr>
          <p:spPr>
            <a:xfrm>
              <a:off x="6559235" y="5474385"/>
              <a:ext cx="1060765" cy="36933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CONDITIONAL FAIL*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Between Target +3dB and Target +6dB</a:t>
              </a:r>
            </a:p>
          </p:txBody>
        </p:sp>
        <p:sp>
          <p:nvSpPr>
            <p:cNvPr id="145" name="Multiply 93">
              <a:extLst>
                <a:ext uri="{FF2B5EF4-FFF2-40B4-BE49-F238E27FC236}">
                  <a16:creationId xmlns:a16="http://schemas.microsoft.com/office/drawing/2014/main" id="{E8A8551A-91A1-4FAD-B9E1-4508A0C1E497}"/>
                </a:ext>
              </a:extLst>
            </p:cNvPr>
            <p:cNvSpPr/>
            <p:nvPr/>
          </p:nvSpPr>
          <p:spPr bwMode="auto">
            <a:xfrm>
              <a:off x="7783488" y="5799221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6" name="Multiply 94">
              <a:extLst>
                <a:ext uri="{FF2B5EF4-FFF2-40B4-BE49-F238E27FC236}">
                  <a16:creationId xmlns:a16="http://schemas.microsoft.com/office/drawing/2014/main" id="{2E24FE0E-919D-4BB9-85BC-4F6FD905A7A5}"/>
                </a:ext>
              </a:extLst>
            </p:cNvPr>
            <p:cNvSpPr/>
            <p:nvPr/>
          </p:nvSpPr>
          <p:spPr bwMode="auto">
            <a:xfrm>
              <a:off x="6324601" y="5200650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F83E274E-7785-4802-95D7-DE6EB9DF4EB8}"/>
                </a:ext>
              </a:extLst>
            </p:cNvPr>
            <p:cNvSpPr txBox="1"/>
            <p:nvPr/>
          </p:nvSpPr>
          <p:spPr>
            <a:xfrm>
              <a:off x="7726180" y="5101372"/>
              <a:ext cx="401820" cy="21544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02FA5B02-44C7-4AE5-8915-D169C13B09AB}"/>
                </a:ext>
              </a:extLst>
            </p:cNvPr>
            <p:cNvSpPr txBox="1"/>
            <p:nvPr/>
          </p:nvSpPr>
          <p:spPr>
            <a:xfrm>
              <a:off x="7724097" y="5596408"/>
              <a:ext cx="401820" cy="21544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</a:rPr>
                <a:t>NO</a:t>
              </a:r>
            </a:p>
          </p:txBody>
        </p: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21E8091B-ED60-4CAD-B5E0-26D9959D537D}"/>
              </a:ext>
            </a:extLst>
          </p:cNvPr>
          <p:cNvSpPr txBox="1"/>
          <p:nvPr/>
        </p:nvSpPr>
        <p:spPr>
          <a:xfrm>
            <a:off x="4265930" y="1566464"/>
            <a:ext cx="609600" cy="215444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-16dB</a:t>
            </a:r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6AC06E39-09DE-47B2-9E7E-FD556661BB05}"/>
              </a:ext>
            </a:extLst>
          </p:cNvPr>
          <p:cNvCxnSpPr>
            <a:cxnSpLocks/>
            <a:stCxn id="158" idx="3"/>
          </p:cNvCxnSpPr>
          <p:nvPr/>
        </p:nvCxnSpPr>
        <p:spPr bwMode="auto">
          <a:xfrm>
            <a:off x="4875530" y="1674186"/>
            <a:ext cx="405063" cy="39939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C2A27A1E-ECF0-4A6A-BD09-E4A7ABCB729F}"/>
              </a:ext>
            </a:extLst>
          </p:cNvPr>
          <p:cNvSpPr txBox="1"/>
          <p:nvPr/>
        </p:nvSpPr>
        <p:spPr>
          <a:xfrm>
            <a:off x="4265930" y="1296878"/>
            <a:ext cx="609600" cy="215444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err="1"/>
              <a:t>XdB</a:t>
            </a:r>
            <a:endParaRPr lang="en-US" sz="800" b="1" dirty="0"/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D05DDBC4-7147-4BCF-BAFB-8B310AEA3500}"/>
              </a:ext>
            </a:extLst>
          </p:cNvPr>
          <p:cNvCxnSpPr>
            <a:stCxn id="160" idx="3"/>
          </p:cNvCxnSpPr>
          <p:nvPr/>
        </p:nvCxnSpPr>
        <p:spPr bwMode="auto">
          <a:xfrm>
            <a:off x="4875530" y="1404600"/>
            <a:ext cx="405063" cy="74757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3FA6A4B-0B5E-43EC-A3C6-18634DF745AA}"/>
              </a:ext>
            </a:extLst>
          </p:cNvPr>
          <p:cNvGrpSpPr/>
          <p:nvPr/>
        </p:nvGrpSpPr>
        <p:grpSpPr>
          <a:xfrm>
            <a:off x="3840480" y="5634334"/>
            <a:ext cx="1981200" cy="461666"/>
            <a:chOff x="3840480" y="5532121"/>
            <a:chExt cx="1981200" cy="461666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218644A2-49ED-43A9-A18C-25A48E0AD2BF}"/>
                </a:ext>
              </a:extLst>
            </p:cNvPr>
            <p:cNvSpPr/>
            <p:nvPr/>
          </p:nvSpPr>
          <p:spPr bwMode="auto">
            <a:xfrm>
              <a:off x="3840480" y="5532121"/>
              <a:ext cx="1981200" cy="46166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41004F9-CE56-4C8A-9076-F308E7357C67}"/>
                </a:ext>
              </a:extLst>
            </p:cNvPr>
            <p:cNvCxnSpPr/>
            <p:nvPr/>
          </p:nvCxnSpPr>
          <p:spPr bwMode="auto">
            <a:xfrm>
              <a:off x="3916680" y="564007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24EB05C2-79E4-4D0C-9CE7-2AC0360C1B85}"/>
                </a:ext>
              </a:extLst>
            </p:cNvPr>
            <p:cNvCxnSpPr/>
            <p:nvPr/>
          </p:nvCxnSpPr>
          <p:spPr bwMode="auto">
            <a:xfrm>
              <a:off x="3916680" y="576072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51FF7F73-EF48-4115-A6C8-DF07BF1E08EA}"/>
                </a:ext>
              </a:extLst>
            </p:cNvPr>
            <p:cNvSpPr txBox="1"/>
            <p:nvPr/>
          </p:nvSpPr>
          <p:spPr>
            <a:xfrm>
              <a:off x="4265930" y="5532122"/>
              <a:ext cx="15557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Pre-Test (0% BCW)</a:t>
              </a:r>
            </a:p>
            <a:p>
              <a:r>
                <a:rPr lang="en-US" sz="800" b="1" dirty="0"/>
                <a:t>Post-Test (100% BCW)</a:t>
              </a:r>
            </a:p>
            <a:p>
              <a:r>
                <a:rPr lang="en-US" sz="800" b="1" dirty="0"/>
                <a:t>Post-Test (300% BCW)</a:t>
              </a:r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8E33B3E5-3FE1-45C8-9585-57A4FD35DCF4}"/>
                </a:ext>
              </a:extLst>
            </p:cNvPr>
            <p:cNvCxnSpPr/>
            <p:nvPr/>
          </p:nvCxnSpPr>
          <p:spPr bwMode="auto">
            <a:xfrm>
              <a:off x="3916680" y="5884545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1" name="Text Box 9">
            <a:extLst>
              <a:ext uri="{FF2B5EF4-FFF2-40B4-BE49-F238E27FC236}">
                <a16:creationId xmlns:a16="http://schemas.microsoft.com/office/drawing/2014/main" id="{AF6FB723-A4D5-4D58-9D7D-8AD1BDB6C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7103"/>
            <a:ext cx="7329487" cy="400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9" tIns="45714" rIns="91429" bIns="45714">
            <a:spAutoFit/>
          </a:bodyPr>
          <a:lstStyle/>
          <a:p>
            <a:pPr marL="457200" indent="-457200" algn="ctr">
              <a:spcBef>
                <a:spcPts val="0"/>
              </a:spcBef>
              <a:defRPr/>
            </a:pPr>
            <a:r>
              <a:rPr 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Stellantis CUSW 2-Speed PV PTU 131mm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5218DE3-3E50-4913-8DE7-2C412F41F591}"/>
              </a:ext>
            </a:extLst>
          </p:cNvPr>
          <p:cNvGrpSpPr/>
          <p:nvPr/>
        </p:nvGrpSpPr>
        <p:grpSpPr>
          <a:xfrm>
            <a:off x="6248400" y="847725"/>
            <a:ext cx="2743200" cy="1313914"/>
            <a:chOff x="6324600" y="914400"/>
            <a:chExt cx="2743200" cy="1313914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772652A-446F-45F4-94E1-FDF6168FEFE5}"/>
                </a:ext>
              </a:extLst>
            </p:cNvPr>
            <p:cNvSpPr txBox="1"/>
            <p:nvPr/>
          </p:nvSpPr>
          <p:spPr>
            <a:xfrm>
              <a:off x="6324600" y="1151096"/>
              <a:ext cx="2743200" cy="10772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 Order: 282084</a:t>
              </a:r>
              <a:r>
                <a:rPr lang="en-US" sz="800" b="1" dirty="0">
                  <a:solidFill>
                    <a:schemeClr val="tx1"/>
                  </a:solidFill>
                </a:rPr>
                <a:t/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 Dyno: RHTC AWD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Test(s) Performed: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Pre-Test (2/10/2022)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Post-100% (3/2/2022)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Post-300% (n/a)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PTL Test Order:  282083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PTL Sample Number: 0002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61718BFB-E17B-449F-A324-5E89125EB7A6}"/>
                </a:ext>
              </a:extLst>
            </p:cNvPr>
            <p:cNvSpPr txBox="1"/>
            <p:nvPr/>
          </p:nvSpPr>
          <p:spPr>
            <a:xfrm>
              <a:off x="7010400" y="914400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Testing Information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B37166C4-646D-4194-88EC-17E00233126B}"/>
              </a:ext>
            </a:extLst>
          </p:cNvPr>
          <p:cNvGrpSpPr/>
          <p:nvPr/>
        </p:nvGrpSpPr>
        <p:grpSpPr>
          <a:xfrm>
            <a:off x="6248400" y="2197715"/>
            <a:ext cx="2743200" cy="1016585"/>
            <a:chOff x="6324600" y="2401253"/>
            <a:chExt cx="2743200" cy="1016585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C92B0A2E-F3EA-45A6-AE51-FFF7AA68256B}"/>
                </a:ext>
              </a:extLst>
            </p:cNvPr>
            <p:cNvSpPr txBox="1"/>
            <p:nvPr/>
          </p:nvSpPr>
          <p:spPr>
            <a:xfrm>
              <a:off x="6324600" y="2633008"/>
              <a:ext cx="2743200" cy="7848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Design Level: PV (diff re-sourcing)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P/N: 68333255AE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S/N: T36P22024115524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Ratio: 2.73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Prop Info: PS1247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0E854759-0633-43D7-BFE1-E4EB00079439}"/>
                </a:ext>
              </a:extLst>
            </p:cNvPr>
            <p:cNvSpPr txBox="1"/>
            <p:nvPr/>
          </p:nvSpPr>
          <p:spPr>
            <a:xfrm>
              <a:off x="7010400" y="2401253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Part Information</a:t>
              </a: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D66DA4FD-8B2B-4F45-8FE4-C439F2EEF78E}"/>
              </a:ext>
            </a:extLst>
          </p:cNvPr>
          <p:cNvGrpSpPr/>
          <p:nvPr/>
        </p:nvGrpSpPr>
        <p:grpSpPr>
          <a:xfrm>
            <a:off x="6248400" y="3291101"/>
            <a:ext cx="2743200" cy="1017800"/>
            <a:chOff x="6248400" y="3376983"/>
            <a:chExt cx="2743200" cy="1017800"/>
          </a:xfrm>
        </p:grpSpPr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CF29378-5ADC-4BCB-9C8F-2B32ACA2B56E}"/>
                </a:ext>
              </a:extLst>
            </p:cNvPr>
            <p:cNvSpPr txBox="1"/>
            <p:nvPr/>
          </p:nvSpPr>
          <p:spPr>
            <a:xfrm>
              <a:off x="6248400" y="3609953"/>
              <a:ext cx="2743200" cy="7848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t" anchorCtr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/>
                <a:t>Drive (Amplitude vs. Target +3dB):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900" dirty="0"/>
                <a:t>Post-100%: </a:t>
              </a:r>
              <a:r>
                <a:rPr lang="en-US" sz="900" dirty="0">
                  <a:solidFill>
                    <a:schemeClr val="tx1"/>
                  </a:solidFill>
                </a:rPr>
                <a:t>-16dB(100</a:t>
              </a:r>
              <a:r>
                <a:rPr lang="en-US" sz="900" dirty="0"/>
                <a:t>%)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Post-300%: n/</a:t>
              </a:r>
              <a:r>
                <a:rPr lang="en-US" sz="900" dirty="0" err="1">
                  <a:solidFill>
                    <a:schemeClr val="tx1"/>
                  </a:solidFill>
                </a:rPr>
                <a:t>adB</a:t>
              </a:r>
              <a:r>
                <a:rPr lang="en-US" sz="900" dirty="0">
                  <a:solidFill>
                    <a:schemeClr val="tx1"/>
                  </a:solidFill>
                </a:rPr>
                <a:t>(300%)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endParaRPr lang="en-US" sz="900" dirty="0">
                <a:solidFill>
                  <a:schemeClr val="tx1"/>
                </a:solidFill>
              </a:endParaRP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Comments: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71AE72CE-7577-4652-A958-C82AA08AA91B}"/>
                </a:ext>
              </a:extLst>
            </p:cNvPr>
            <p:cNvSpPr txBox="1"/>
            <p:nvPr/>
          </p:nvSpPr>
          <p:spPr>
            <a:xfrm>
              <a:off x="6934200" y="3376983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Testing Results</a:t>
              </a:r>
            </a:p>
          </p:txBody>
        </p: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58D6DDA4-8A91-464D-B486-9CB2286DD7B7}"/>
              </a:ext>
            </a:extLst>
          </p:cNvPr>
          <p:cNvSpPr txBox="1"/>
          <p:nvPr/>
        </p:nvSpPr>
        <p:spPr>
          <a:xfrm>
            <a:off x="76200" y="6620933"/>
            <a:ext cx="2667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Published By:  C. Li  3/2/2022</a:t>
            </a:r>
            <a:r>
              <a:rPr lang="en-US" sz="800" b="1" dirty="0">
                <a:solidFill>
                  <a:schemeClr val="tx1"/>
                </a:solidFill>
              </a:rPr>
              <a:t/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5C6813B-0728-4885-B431-57927743B89D}"/>
              </a:ext>
            </a:extLst>
          </p:cNvPr>
          <p:cNvGrpSpPr/>
          <p:nvPr/>
        </p:nvGrpSpPr>
        <p:grpSpPr>
          <a:xfrm>
            <a:off x="3841066" y="2744917"/>
            <a:ext cx="2240280" cy="707888"/>
            <a:chOff x="3581400" y="2438400"/>
            <a:chExt cx="2240280" cy="707888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A94B3AC4-4AFA-4466-B9EA-061E783244AE}"/>
                </a:ext>
              </a:extLst>
            </p:cNvPr>
            <p:cNvSpPr/>
            <p:nvPr/>
          </p:nvSpPr>
          <p:spPr bwMode="auto">
            <a:xfrm>
              <a:off x="3581400" y="2438400"/>
              <a:ext cx="2133600" cy="69917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E35A4D5-1735-49EF-A430-C04B77AE7587}"/>
                </a:ext>
              </a:extLst>
            </p:cNvPr>
            <p:cNvCxnSpPr/>
            <p:nvPr/>
          </p:nvCxnSpPr>
          <p:spPr bwMode="auto">
            <a:xfrm>
              <a:off x="3657600" y="254635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56182F0F-83B0-4727-8A70-5B6F6BC0CEBB}"/>
                </a:ext>
              </a:extLst>
            </p:cNvPr>
            <p:cNvCxnSpPr/>
            <p:nvPr/>
          </p:nvCxnSpPr>
          <p:spPr bwMode="auto">
            <a:xfrm>
              <a:off x="3657600" y="266700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3EF9562D-C77F-4BA1-AC8D-79C8F78E6D4B}"/>
                </a:ext>
              </a:extLst>
            </p:cNvPr>
            <p:cNvSpPr txBox="1"/>
            <p:nvPr/>
          </p:nvSpPr>
          <p:spPr>
            <a:xfrm>
              <a:off x="4006850" y="2438402"/>
              <a:ext cx="18148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Pre-Test (0% BCW)</a:t>
              </a:r>
            </a:p>
            <a:p>
              <a:r>
                <a:rPr lang="en-US" sz="800" b="1" dirty="0"/>
                <a:t>Post-Test (100% BCW)</a:t>
              </a:r>
            </a:p>
            <a:p>
              <a:r>
                <a:rPr lang="en-US" sz="800" b="1" dirty="0"/>
                <a:t>Post-Test (300% BCW)</a:t>
              </a:r>
            </a:p>
            <a:p>
              <a:r>
                <a:rPr lang="en-US" sz="800" b="1" dirty="0"/>
                <a:t>2.6µm Preliminary Target</a:t>
              </a:r>
            </a:p>
            <a:p>
              <a:r>
                <a:rPr lang="en-US" sz="800" b="1" dirty="0"/>
                <a:t>2.6µm Preliminary Target + 3dB</a:t>
              </a:r>
            </a:p>
          </p:txBody>
        </p: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6AF227A4-7ED5-431E-854C-399F09D585A2}"/>
                </a:ext>
              </a:extLst>
            </p:cNvPr>
            <p:cNvCxnSpPr/>
            <p:nvPr/>
          </p:nvCxnSpPr>
          <p:spPr bwMode="auto">
            <a:xfrm>
              <a:off x="3657600" y="2790825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4769166D-8B91-40F4-93C9-F7212E0113C7}"/>
                </a:ext>
              </a:extLst>
            </p:cNvPr>
            <p:cNvCxnSpPr/>
            <p:nvPr/>
          </p:nvCxnSpPr>
          <p:spPr bwMode="auto">
            <a:xfrm>
              <a:off x="3661410" y="2905497"/>
              <a:ext cx="3810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68A70163-52E9-4103-BA5A-F47587A2CD4A}"/>
                </a:ext>
              </a:extLst>
            </p:cNvPr>
            <p:cNvCxnSpPr/>
            <p:nvPr/>
          </p:nvCxnSpPr>
          <p:spPr bwMode="auto">
            <a:xfrm>
              <a:off x="3657600" y="3017520"/>
              <a:ext cx="3810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509291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" name="PLOT1">
            <a:extLst>
              <a:ext uri="{FF2B5EF4-FFF2-40B4-BE49-F238E27FC236}">
                <a16:creationId xmlns:a16="http://schemas.microsoft.com/office/drawing/2014/main" id="{5569C27C-F24A-41D2-89F2-87FE0E9ADB9D}"/>
              </a:ext>
            </a:extLst>
          </p:cNvPr>
          <p:cNvGraphicFramePr>
            <a:graphicFrameLocks noGrp="1"/>
          </p:cNvGraphicFramePr>
          <p:nvPr>
            <p:ph type="pic" sz="quarter" idx="14"/>
            <p:extLst>
              <p:ext uri="{D42A27DB-BD31-4B8C-83A1-F6EECF244321}">
                <p14:modId xmlns:p14="http://schemas.microsoft.com/office/powerpoint/2010/main" val="2107225007"/>
              </p:ext>
            </p:extLst>
          </p:nvPr>
        </p:nvGraphicFramePr>
        <p:xfrm>
          <a:off x="91440" y="3932238"/>
          <a:ext cx="5936625" cy="256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5" name="Active Picture" r:id="rId3" imgW="4659840" imgH="2880000" progId="LMS.Test.Lab.ActivePicture.1">
                  <p:embed/>
                </p:oleObj>
              </mc:Choice>
              <mc:Fallback>
                <p:oleObj name="Active Picture" r:id="rId3" imgW="4659840" imgH="2880000" progId="LMS.Test.Lab.ActivePicture.1">
                  <p:embed/>
                  <p:pic>
                    <p:nvPicPr>
                      <p:cNvPr id="1026" name="PLOT1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" y="3932238"/>
                        <a:ext cx="5936625" cy="2560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" name="PLOT3">
            <a:extLst>
              <a:ext uri="{FF2B5EF4-FFF2-40B4-BE49-F238E27FC236}">
                <a16:creationId xmlns:a16="http://schemas.microsoft.com/office/drawing/2014/main" id="{E4426164-2D8D-41DD-9898-DC849AD1E2A5}"/>
              </a:ext>
            </a:extLst>
          </p:cNvPr>
          <p:cNvGraphicFramePr>
            <a:graphicFrameLocks noGrp="1"/>
          </p:cNvGraphicFramePr>
          <p:nvPr>
            <p:ph type="pic" sz="quarter" idx="13"/>
            <p:extLst>
              <p:ext uri="{D42A27DB-BD31-4B8C-83A1-F6EECF244321}">
                <p14:modId xmlns:p14="http://schemas.microsoft.com/office/powerpoint/2010/main" val="3818673850"/>
              </p:ext>
            </p:extLst>
          </p:nvPr>
        </p:nvGraphicFramePr>
        <p:xfrm>
          <a:off x="91440" y="1006475"/>
          <a:ext cx="5943600" cy="255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6" name="Active Picture" r:id="rId5" imgW="4659840" imgH="2880000" progId="LMS.Test.Lab.ActivePicture.1">
                  <p:embed/>
                </p:oleObj>
              </mc:Choice>
              <mc:Fallback>
                <p:oleObj name="Active Picture" r:id="rId5" imgW="4659840" imgH="2880000" progId="LMS.Test.Lab.ActivePicture.1">
                  <p:embed/>
                  <p:pic>
                    <p:nvPicPr>
                      <p:cNvPr id="1028" name="PLOT3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" y="1006475"/>
                        <a:ext cx="5943600" cy="2559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33400" y="832104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Pinion Nose Vertical Vibration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832104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13.89 Order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62000" y="1143000"/>
            <a:ext cx="876300" cy="27699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+450Nm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7ECD3B-2845-414E-82C4-759984DE97DB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896112" y="381000"/>
            <a:ext cx="7333488" cy="400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9" tIns="45714" rIns="91429" bIns="45714">
            <a:spAutoFit/>
          </a:bodyPr>
          <a:lstStyle/>
          <a:p>
            <a:pPr marL="457200" indent="-457200" algn="ctr">
              <a:spcBef>
                <a:spcPts val="0"/>
              </a:spcBef>
              <a:defRPr/>
            </a:pPr>
            <a:r>
              <a:rPr lang="en-US" sz="2000" b="1" dirty="0">
                <a:solidFill>
                  <a:schemeClr val="tx1"/>
                </a:solidFill>
              </a:rPr>
              <a:t>Pre/Post BCW Durability NVH Results - </a:t>
            </a:r>
            <a:r>
              <a:rPr lang="en-US" sz="2000" b="1" i="1" dirty="0">
                <a:solidFill>
                  <a:srgbClr val="FF0000"/>
                </a:solidFill>
              </a:rPr>
              <a:t>Coast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endParaRPr lang="en-US" sz="2000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Footer Placeholder 2"/>
          <p:cNvSpPr txBox="1">
            <a:spLocks/>
          </p:cNvSpPr>
          <p:nvPr/>
        </p:nvSpPr>
        <p:spPr bwMode="auto">
          <a:xfrm>
            <a:off x="3733800" y="6591300"/>
            <a:ext cx="1690688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b="1" i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>
                    <a:lumMod val="50000"/>
                  </a:schemeClr>
                </a:solidFill>
              </a:rPr>
              <a:t>--AAM CONFIDENTIAL--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63440" y="3767328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13.89 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3767328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Torsional Acceleration – Telemetry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62000" y="4066401"/>
            <a:ext cx="876300" cy="27699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+450Nm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C35FF7D9-13B1-47DC-86F4-D6DC125F1407}"/>
              </a:ext>
            </a:extLst>
          </p:cNvPr>
          <p:cNvGrpSpPr/>
          <p:nvPr/>
        </p:nvGrpSpPr>
        <p:grpSpPr>
          <a:xfrm>
            <a:off x="6862132" y="6330950"/>
            <a:ext cx="2053268" cy="462698"/>
            <a:chOff x="6905945" y="6365624"/>
            <a:chExt cx="2053268" cy="462698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61237AB6-35C8-45DE-8159-C3E9C77D7605}"/>
                </a:ext>
              </a:extLst>
            </p:cNvPr>
            <p:cNvSpPr/>
            <p:nvPr/>
          </p:nvSpPr>
          <p:spPr bwMode="auto">
            <a:xfrm rot="5400000">
              <a:off x="8325485" y="6523224"/>
              <a:ext cx="274320" cy="27432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F54DEB7A-DD2B-43C6-9F50-BF54C83571F6}"/>
                </a:ext>
              </a:extLst>
            </p:cNvPr>
            <p:cNvSpPr/>
            <p:nvPr/>
          </p:nvSpPr>
          <p:spPr bwMode="auto">
            <a:xfrm rot="5400000">
              <a:off x="8641080" y="6523224"/>
              <a:ext cx="274320" cy="27432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96" name="Multiply 88">
              <a:extLst>
                <a:ext uri="{FF2B5EF4-FFF2-40B4-BE49-F238E27FC236}">
                  <a16:creationId xmlns:a16="http://schemas.microsoft.com/office/drawing/2014/main" id="{C8FF5C24-17F2-4367-AF46-35EA1507DFDF}"/>
                </a:ext>
              </a:extLst>
            </p:cNvPr>
            <p:cNvSpPr/>
            <p:nvPr/>
          </p:nvSpPr>
          <p:spPr bwMode="auto">
            <a:xfrm>
              <a:off x="8640777" y="6546084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742F9D02-E093-4E86-A903-B52EB68B8B94}"/>
                </a:ext>
              </a:extLst>
            </p:cNvPr>
            <p:cNvSpPr txBox="1"/>
            <p:nvPr/>
          </p:nvSpPr>
          <p:spPr>
            <a:xfrm>
              <a:off x="8287358" y="6365624"/>
              <a:ext cx="356261" cy="2000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100B3E8-53DD-4963-93AF-FCEC5AC9BE15}"/>
                </a:ext>
              </a:extLst>
            </p:cNvPr>
            <p:cNvSpPr txBox="1"/>
            <p:nvPr/>
          </p:nvSpPr>
          <p:spPr>
            <a:xfrm>
              <a:off x="8602952" y="6365625"/>
              <a:ext cx="356261" cy="2000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</a:rPr>
                <a:t>No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B5BC592-B192-40D0-854C-5985D3772D22}"/>
                </a:ext>
              </a:extLst>
            </p:cNvPr>
            <p:cNvSpPr txBox="1"/>
            <p:nvPr/>
          </p:nvSpPr>
          <p:spPr>
            <a:xfrm>
              <a:off x="6905945" y="6489768"/>
              <a:ext cx="1447801" cy="33855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r"/>
              <a:r>
                <a:rPr lang="en-US" sz="800" b="1" dirty="0">
                  <a:solidFill>
                    <a:schemeClr val="tx1"/>
                  </a:solidFill>
                </a:rPr>
                <a:t>*Full Tear-Down</a:t>
              </a:r>
            </a:p>
            <a:p>
              <a:pPr algn="r"/>
              <a:r>
                <a:rPr lang="en-US" sz="800" b="1" dirty="0">
                  <a:solidFill>
                    <a:schemeClr val="tx1"/>
                  </a:solidFill>
                </a:rPr>
                <a:t>Analysis Required?</a:t>
              </a:r>
            </a:p>
          </p:txBody>
        </p:sp>
      </p:grpSp>
      <p:sp>
        <p:nvSpPr>
          <p:cNvPr id="123" name="TextBox 122">
            <a:extLst>
              <a:ext uri="{FF2B5EF4-FFF2-40B4-BE49-F238E27FC236}">
                <a16:creationId xmlns:a16="http://schemas.microsoft.com/office/drawing/2014/main" id="{E1230E88-AFA3-40CF-BBA9-A3E7B9091EC9}"/>
              </a:ext>
            </a:extLst>
          </p:cNvPr>
          <p:cNvSpPr txBox="1"/>
          <p:nvPr/>
        </p:nvSpPr>
        <p:spPr>
          <a:xfrm>
            <a:off x="5410200" y="6400800"/>
            <a:ext cx="1752600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dirty="0"/>
              <a:t>NOTE:  NVH Requirement is at Post-100% BCW</a:t>
            </a: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8BF33E30-0070-4290-9AEC-81D3E36EB9C7}"/>
              </a:ext>
            </a:extLst>
          </p:cNvPr>
          <p:cNvGrpSpPr/>
          <p:nvPr/>
        </p:nvGrpSpPr>
        <p:grpSpPr>
          <a:xfrm>
            <a:off x="6248401" y="5101372"/>
            <a:ext cx="2743199" cy="1241822"/>
            <a:chOff x="6248401" y="5101372"/>
            <a:chExt cx="2743199" cy="1241822"/>
          </a:xfrm>
        </p:grpSpPr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88EA54F4-F6F4-400C-8279-0544D8C148B6}"/>
                </a:ext>
              </a:extLst>
            </p:cNvPr>
            <p:cNvSpPr/>
            <p:nvPr/>
          </p:nvSpPr>
          <p:spPr bwMode="auto">
            <a:xfrm>
              <a:off x="7696200" y="5105400"/>
              <a:ext cx="1295400" cy="1205013"/>
            </a:xfrm>
            <a:prstGeom prst="rect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19AEEA1-1986-4200-80AB-4B310B42D6E3}"/>
                </a:ext>
              </a:extLst>
            </p:cNvPr>
            <p:cNvSpPr txBox="1"/>
            <p:nvPr/>
          </p:nvSpPr>
          <p:spPr>
            <a:xfrm>
              <a:off x="8018122" y="5237718"/>
              <a:ext cx="973478" cy="36933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Amplitude Post-Test Above Target +3dB &amp; Dynamics Shift &gt;5%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B58548FE-151D-44EB-A398-86320CCC9370}"/>
                </a:ext>
              </a:extLst>
            </p:cNvPr>
            <p:cNvSpPr/>
            <p:nvPr/>
          </p:nvSpPr>
          <p:spPr bwMode="auto">
            <a:xfrm rot="5400000">
              <a:off x="7783487" y="5286563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8D5FD1E6-2E47-4D50-846E-3188A5B7E0B2}"/>
                </a:ext>
              </a:extLst>
            </p:cNvPr>
            <p:cNvSpPr/>
            <p:nvPr/>
          </p:nvSpPr>
          <p:spPr bwMode="auto">
            <a:xfrm rot="5400000">
              <a:off x="7783487" y="5777230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926D3E84-E65C-42D5-AAF9-FEA9C2F21C3A}"/>
                </a:ext>
              </a:extLst>
            </p:cNvPr>
            <p:cNvSpPr txBox="1"/>
            <p:nvPr/>
          </p:nvSpPr>
          <p:spPr>
            <a:xfrm>
              <a:off x="8018122" y="5774551"/>
              <a:ext cx="973478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Amplitude Post-Test at/Below Target +3dB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5A62B7F4-FDF2-44DF-84DC-5A0D8105F51C}"/>
                </a:ext>
              </a:extLst>
            </p:cNvPr>
            <p:cNvSpPr txBox="1"/>
            <p:nvPr/>
          </p:nvSpPr>
          <p:spPr>
            <a:xfrm>
              <a:off x="7696200" y="6114018"/>
              <a:ext cx="12954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0000FF"/>
                  </a:solidFill>
                </a:rPr>
                <a:t>PTR Increase </a:t>
              </a:r>
              <a:r>
                <a:rPr lang="en-US" sz="800" b="1" dirty="0" err="1">
                  <a:solidFill>
                    <a:srgbClr val="0000FF"/>
                  </a:solidFill>
                </a:rPr>
                <a:t>Req’d</a:t>
              </a:r>
              <a:r>
                <a:rPr lang="en-US" sz="800" b="1" dirty="0">
                  <a:solidFill>
                    <a:srgbClr val="0000FF"/>
                  </a:solidFill>
                </a:rPr>
                <a:t>?</a:t>
              </a: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36F60588-9F6F-4C2F-A1B4-F29902B299F2}"/>
                </a:ext>
              </a:extLst>
            </p:cNvPr>
            <p:cNvSpPr/>
            <p:nvPr/>
          </p:nvSpPr>
          <p:spPr bwMode="auto">
            <a:xfrm>
              <a:off x="6248401" y="5105400"/>
              <a:ext cx="1371599" cy="12060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7DB666CB-A2C0-4204-9122-0DF1D0901833}"/>
                </a:ext>
              </a:extLst>
            </p:cNvPr>
            <p:cNvSpPr txBox="1"/>
            <p:nvPr/>
          </p:nvSpPr>
          <p:spPr>
            <a:xfrm>
              <a:off x="6559236" y="5175250"/>
              <a:ext cx="1060764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PASS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≤ Target +3dB</a:t>
              </a: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D0E2D8CC-3F55-40C2-B004-EBF3500B452A}"/>
                </a:ext>
              </a:extLst>
            </p:cNvPr>
            <p:cNvSpPr/>
            <p:nvPr/>
          </p:nvSpPr>
          <p:spPr bwMode="auto">
            <a:xfrm rot="5400000">
              <a:off x="6324601" y="5179505"/>
              <a:ext cx="274320" cy="274320"/>
            </a:xfrm>
            <a:prstGeom prst="rect">
              <a:avLst/>
            </a:prstGeom>
            <a:solidFill>
              <a:srgbClr val="008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79BD8C76-A5DE-4AFD-8D41-DC5B9C0A0FBF}"/>
                </a:ext>
              </a:extLst>
            </p:cNvPr>
            <p:cNvSpPr/>
            <p:nvPr/>
          </p:nvSpPr>
          <p:spPr bwMode="auto">
            <a:xfrm rot="5400000">
              <a:off x="6324601" y="5521076"/>
              <a:ext cx="274320" cy="274320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76543FDB-3DD0-4C79-8112-DC264AA48BB9}"/>
                </a:ext>
              </a:extLst>
            </p:cNvPr>
            <p:cNvSpPr txBox="1"/>
            <p:nvPr/>
          </p:nvSpPr>
          <p:spPr>
            <a:xfrm>
              <a:off x="6286500" y="6127750"/>
              <a:ext cx="129953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0000FF"/>
                  </a:solidFill>
                </a:rPr>
                <a:t>Amplitude (Post-Test)</a:t>
              </a: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49A9CB35-A8AE-4384-9081-29B5EAF495AB}"/>
                </a:ext>
              </a:extLst>
            </p:cNvPr>
            <p:cNvSpPr/>
            <p:nvPr/>
          </p:nvSpPr>
          <p:spPr bwMode="auto">
            <a:xfrm rot="5400000">
              <a:off x="6324601" y="5869886"/>
              <a:ext cx="274320" cy="274320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DA134ABD-569D-48CF-A0BA-FDC3AA50D396}"/>
                </a:ext>
              </a:extLst>
            </p:cNvPr>
            <p:cNvSpPr txBox="1"/>
            <p:nvPr/>
          </p:nvSpPr>
          <p:spPr>
            <a:xfrm>
              <a:off x="6563995" y="5867400"/>
              <a:ext cx="1056005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ABSOLUTE FAIL*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&gt; Target +6dB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6ADABD29-E3B5-4145-B537-71A9860D740D}"/>
                </a:ext>
              </a:extLst>
            </p:cNvPr>
            <p:cNvSpPr txBox="1"/>
            <p:nvPr/>
          </p:nvSpPr>
          <p:spPr>
            <a:xfrm>
              <a:off x="6559235" y="5474385"/>
              <a:ext cx="1060765" cy="36933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CONDITIONAL FAIL*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Between Target +3dB and Target +6dB</a:t>
              </a:r>
            </a:p>
          </p:txBody>
        </p:sp>
        <p:sp>
          <p:nvSpPr>
            <p:cNvPr id="147" name="Multiply 93">
              <a:extLst>
                <a:ext uri="{FF2B5EF4-FFF2-40B4-BE49-F238E27FC236}">
                  <a16:creationId xmlns:a16="http://schemas.microsoft.com/office/drawing/2014/main" id="{CC2FD0AD-20A3-4D5B-B382-CA3CA835C0A7}"/>
                </a:ext>
              </a:extLst>
            </p:cNvPr>
            <p:cNvSpPr/>
            <p:nvPr/>
          </p:nvSpPr>
          <p:spPr bwMode="auto">
            <a:xfrm>
              <a:off x="7783488" y="5799221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8" name="Multiply 94">
              <a:extLst>
                <a:ext uri="{FF2B5EF4-FFF2-40B4-BE49-F238E27FC236}">
                  <a16:creationId xmlns:a16="http://schemas.microsoft.com/office/drawing/2014/main" id="{A3A65729-EF5B-46D8-B28A-7D70E6301077}"/>
                </a:ext>
              </a:extLst>
            </p:cNvPr>
            <p:cNvSpPr/>
            <p:nvPr/>
          </p:nvSpPr>
          <p:spPr bwMode="auto">
            <a:xfrm>
              <a:off x="6324601" y="5200650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3A687744-F3FA-4626-B311-130F205321CE}"/>
                </a:ext>
              </a:extLst>
            </p:cNvPr>
            <p:cNvSpPr txBox="1"/>
            <p:nvPr/>
          </p:nvSpPr>
          <p:spPr>
            <a:xfrm>
              <a:off x="7726180" y="5101372"/>
              <a:ext cx="401820" cy="21544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2700C622-3F17-48D2-94A8-7D7229AB0614}"/>
                </a:ext>
              </a:extLst>
            </p:cNvPr>
            <p:cNvSpPr txBox="1"/>
            <p:nvPr/>
          </p:nvSpPr>
          <p:spPr>
            <a:xfrm>
              <a:off x="7724097" y="5596408"/>
              <a:ext cx="401820" cy="21544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</a:rPr>
                <a:t>NO</a:t>
              </a:r>
            </a:p>
          </p:txBody>
        </p:sp>
      </p:grpSp>
      <p:sp>
        <p:nvSpPr>
          <p:cNvPr id="160" name="TextBox 159">
            <a:extLst>
              <a:ext uri="{FF2B5EF4-FFF2-40B4-BE49-F238E27FC236}">
                <a16:creationId xmlns:a16="http://schemas.microsoft.com/office/drawing/2014/main" id="{2C5C33D2-2F4F-46AB-8046-5A66EF022EAB}"/>
              </a:ext>
            </a:extLst>
          </p:cNvPr>
          <p:cNvSpPr txBox="1"/>
          <p:nvPr/>
        </p:nvSpPr>
        <p:spPr>
          <a:xfrm>
            <a:off x="3992880" y="1363532"/>
            <a:ext cx="609600" cy="215444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-12dB</a:t>
            </a:r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93064CEA-6DE8-4BA3-A157-E9BA234D40B6}"/>
              </a:ext>
            </a:extLst>
          </p:cNvPr>
          <p:cNvCxnSpPr>
            <a:stCxn id="160" idx="3"/>
          </p:cNvCxnSpPr>
          <p:nvPr/>
        </p:nvCxnSpPr>
        <p:spPr bwMode="auto">
          <a:xfrm>
            <a:off x="4602480" y="1471254"/>
            <a:ext cx="405063" cy="74757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A863A302-7DEA-4EAA-83ED-EFB205618E22}"/>
              </a:ext>
            </a:extLst>
          </p:cNvPr>
          <p:cNvSpPr txBox="1"/>
          <p:nvPr/>
        </p:nvSpPr>
        <p:spPr>
          <a:xfrm>
            <a:off x="3992880" y="1093946"/>
            <a:ext cx="609600" cy="215444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err="1"/>
              <a:t>XdB</a:t>
            </a:r>
            <a:endParaRPr lang="en-US" sz="800" b="1" dirty="0"/>
          </a:p>
        </p:txBody>
      </p: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2541EC9C-92C8-4453-939F-902EED853144}"/>
              </a:ext>
            </a:extLst>
          </p:cNvPr>
          <p:cNvCxnSpPr>
            <a:stCxn id="162" idx="3"/>
          </p:cNvCxnSpPr>
          <p:nvPr/>
        </p:nvCxnSpPr>
        <p:spPr bwMode="auto">
          <a:xfrm>
            <a:off x="4602480" y="1201668"/>
            <a:ext cx="405063" cy="74757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9C08D6C-22DD-4122-999F-7AA4E7A20B63}"/>
              </a:ext>
            </a:extLst>
          </p:cNvPr>
          <p:cNvGrpSpPr/>
          <p:nvPr/>
        </p:nvGrpSpPr>
        <p:grpSpPr>
          <a:xfrm>
            <a:off x="3657600" y="2438400"/>
            <a:ext cx="2240280" cy="707888"/>
            <a:chOff x="3581400" y="2438400"/>
            <a:chExt cx="2240280" cy="707888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EF8698DF-A6F6-4A00-A591-1A61DC676CC7}"/>
                </a:ext>
              </a:extLst>
            </p:cNvPr>
            <p:cNvSpPr/>
            <p:nvPr/>
          </p:nvSpPr>
          <p:spPr bwMode="auto">
            <a:xfrm>
              <a:off x="3581400" y="2438400"/>
              <a:ext cx="2133600" cy="69917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5690EB5B-32C9-4C44-A215-747A2DA9C2ED}"/>
                </a:ext>
              </a:extLst>
            </p:cNvPr>
            <p:cNvCxnSpPr/>
            <p:nvPr/>
          </p:nvCxnSpPr>
          <p:spPr bwMode="auto">
            <a:xfrm>
              <a:off x="3657600" y="254635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BD58C107-589F-4497-B8C0-163668662626}"/>
                </a:ext>
              </a:extLst>
            </p:cNvPr>
            <p:cNvCxnSpPr/>
            <p:nvPr/>
          </p:nvCxnSpPr>
          <p:spPr bwMode="auto">
            <a:xfrm>
              <a:off x="3657600" y="266700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0F2CB22C-1790-4382-A15F-41B7BEA5FFBD}"/>
                </a:ext>
              </a:extLst>
            </p:cNvPr>
            <p:cNvSpPr txBox="1"/>
            <p:nvPr/>
          </p:nvSpPr>
          <p:spPr>
            <a:xfrm>
              <a:off x="4006850" y="2438402"/>
              <a:ext cx="18148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Pre-Test (0% BCW)</a:t>
              </a:r>
            </a:p>
            <a:p>
              <a:r>
                <a:rPr lang="en-US" sz="800" b="1" dirty="0"/>
                <a:t>Post-Test (100% BCW)</a:t>
              </a:r>
            </a:p>
            <a:p>
              <a:r>
                <a:rPr lang="en-US" sz="800" b="1" dirty="0"/>
                <a:t>Post-Test (300% BCW)</a:t>
              </a:r>
            </a:p>
            <a:p>
              <a:r>
                <a:rPr lang="en-US" sz="800" b="1" dirty="0"/>
                <a:t>0.8µm Preliminary Target</a:t>
              </a:r>
            </a:p>
            <a:p>
              <a:r>
                <a:rPr lang="en-US" sz="800" b="1" dirty="0"/>
                <a:t>0.8µm Preliminary Target + 3dB</a:t>
              </a:r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F6A8BB92-5EC0-4F16-BE49-695FB72D5B1E}"/>
                </a:ext>
              </a:extLst>
            </p:cNvPr>
            <p:cNvCxnSpPr/>
            <p:nvPr/>
          </p:nvCxnSpPr>
          <p:spPr bwMode="auto">
            <a:xfrm>
              <a:off x="3657600" y="2790825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CD39724-62CE-43E8-93B3-438653BD766F}"/>
                </a:ext>
              </a:extLst>
            </p:cNvPr>
            <p:cNvCxnSpPr/>
            <p:nvPr/>
          </p:nvCxnSpPr>
          <p:spPr bwMode="auto">
            <a:xfrm>
              <a:off x="3661410" y="2905497"/>
              <a:ext cx="3810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E818D3DC-58BC-459B-8DF1-D874AFBDCDBD}"/>
                </a:ext>
              </a:extLst>
            </p:cNvPr>
            <p:cNvCxnSpPr/>
            <p:nvPr/>
          </p:nvCxnSpPr>
          <p:spPr bwMode="auto">
            <a:xfrm>
              <a:off x="3657600" y="3017520"/>
              <a:ext cx="3810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4506FEC-EF68-4EE6-9D5B-D6F0BAFFCD5D}"/>
              </a:ext>
            </a:extLst>
          </p:cNvPr>
          <p:cNvGrpSpPr/>
          <p:nvPr/>
        </p:nvGrpSpPr>
        <p:grpSpPr>
          <a:xfrm>
            <a:off x="3840480" y="5634334"/>
            <a:ext cx="1981200" cy="461666"/>
            <a:chOff x="3840480" y="5532121"/>
            <a:chExt cx="1981200" cy="461666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1CC14857-A48B-45CB-9700-E5E4224C67B1}"/>
                </a:ext>
              </a:extLst>
            </p:cNvPr>
            <p:cNvSpPr/>
            <p:nvPr/>
          </p:nvSpPr>
          <p:spPr bwMode="auto">
            <a:xfrm>
              <a:off x="3840480" y="5532121"/>
              <a:ext cx="1981200" cy="46166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F2796F8-5042-4D8F-9E73-CAA2F5488EA9}"/>
                </a:ext>
              </a:extLst>
            </p:cNvPr>
            <p:cNvCxnSpPr/>
            <p:nvPr/>
          </p:nvCxnSpPr>
          <p:spPr bwMode="auto">
            <a:xfrm>
              <a:off x="3916680" y="564007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9A942613-73C5-4C67-93BC-EF6F25B3CFB1}"/>
                </a:ext>
              </a:extLst>
            </p:cNvPr>
            <p:cNvCxnSpPr/>
            <p:nvPr/>
          </p:nvCxnSpPr>
          <p:spPr bwMode="auto">
            <a:xfrm>
              <a:off x="3916680" y="576072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AA7B8771-DAF4-479C-ACA7-0D5914929C14}"/>
                </a:ext>
              </a:extLst>
            </p:cNvPr>
            <p:cNvSpPr txBox="1"/>
            <p:nvPr/>
          </p:nvSpPr>
          <p:spPr>
            <a:xfrm>
              <a:off x="4265930" y="5532122"/>
              <a:ext cx="15557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Pre-Test (0% BCW)</a:t>
              </a:r>
            </a:p>
            <a:p>
              <a:r>
                <a:rPr lang="en-US" sz="800" b="1" dirty="0"/>
                <a:t>Post-Test (100% BCW)</a:t>
              </a:r>
            </a:p>
            <a:p>
              <a:r>
                <a:rPr lang="en-US" sz="800" b="1" dirty="0"/>
                <a:t>Post-Test (300% BCW)</a:t>
              </a:r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DF57373E-3583-4A32-AE21-272977A78DC5}"/>
                </a:ext>
              </a:extLst>
            </p:cNvPr>
            <p:cNvCxnSpPr/>
            <p:nvPr/>
          </p:nvCxnSpPr>
          <p:spPr bwMode="auto">
            <a:xfrm>
              <a:off x="3916680" y="5884545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1" name="Text Box 9">
            <a:extLst>
              <a:ext uri="{FF2B5EF4-FFF2-40B4-BE49-F238E27FC236}">
                <a16:creationId xmlns:a16="http://schemas.microsoft.com/office/drawing/2014/main" id="{79C7C16D-993A-45D1-A4A1-645A73EC5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7103"/>
            <a:ext cx="7329487" cy="400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9" tIns="45714" rIns="91429" bIns="45714">
            <a:spAutoFit/>
          </a:bodyPr>
          <a:lstStyle/>
          <a:p>
            <a:pPr marL="457200" indent="-457200" algn="ctr">
              <a:spcBef>
                <a:spcPts val="0"/>
              </a:spcBef>
              <a:defRPr/>
            </a:pPr>
            <a:r>
              <a:rPr 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Stellantis CUSW 2-Speed PV PTU 131mm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7EE1B8B-9CB5-4F12-8F09-4B39A512347C}"/>
              </a:ext>
            </a:extLst>
          </p:cNvPr>
          <p:cNvGrpSpPr/>
          <p:nvPr/>
        </p:nvGrpSpPr>
        <p:grpSpPr>
          <a:xfrm>
            <a:off x="6248400" y="847725"/>
            <a:ext cx="2743200" cy="1313914"/>
            <a:chOff x="6324600" y="914400"/>
            <a:chExt cx="2743200" cy="1313914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392EBADB-0AF1-412B-89E5-692E19DFC8BB}"/>
                </a:ext>
              </a:extLst>
            </p:cNvPr>
            <p:cNvSpPr txBox="1"/>
            <p:nvPr/>
          </p:nvSpPr>
          <p:spPr>
            <a:xfrm>
              <a:off x="6324600" y="1151096"/>
              <a:ext cx="2743200" cy="10772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 Order: 282084</a:t>
              </a:r>
              <a:r>
                <a:rPr lang="en-US" sz="800" b="1" dirty="0">
                  <a:solidFill>
                    <a:schemeClr val="tx1"/>
                  </a:solidFill>
                </a:rPr>
                <a:t/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 Dyno: RHTC AWD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Test(s) Performed: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Pre-Test (2/10/2022)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Post-100% (3/2/2022)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Post-300% (n/a)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PTL Test Order:  282083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PTL Sample Number: 0002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B8ED13B3-C937-4DA6-AB1F-28722FC81BD1}"/>
                </a:ext>
              </a:extLst>
            </p:cNvPr>
            <p:cNvSpPr txBox="1"/>
            <p:nvPr/>
          </p:nvSpPr>
          <p:spPr>
            <a:xfrm>
              <a:off x="7010400" y="914400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Testing Information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27509ECD-6A71-4376-BEFC-672664B36870}"/>
              </a:ext>
            </a:extLst>
          </p:cNvPr>
          <p:cNvGrpSpPr/>
          <p:nvPr/>
        </p:nvGrpSpPr>
        <p:grpSpPr>
          <a:xfrm>
            <a:off x="6248400" y="2197715"/>
            <a:ext cx="2743200" cy="1016585"/>
            <a:chOff x="6324600" y="2401253"/>
            <a:chExt cx="2743200" cy="1016585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0F46708-FA19-4F0B-8995-C6D5B90E16C3}"/>
                </a:ext>
              </a:extLst>
            </p:cNvPr>
            <p:cNvSpPr txBox="1"/>
            <p:nvPr/>
          </p:nvSpPr>
          <p:spPr>
            <a:xfrm>
              <a:off x="6324600" y="2633008"/>
              <a:ext cx="2743200" cy="7848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Design Level: PV (diff re-sourcing)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P/N: 68333255AE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S/N: T36P22024115524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Ratio: 2.73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Prop Info: PS1247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E8104B2-22BA-4B6E-9C2C-660C9417DE33}"/>
                </a:ext>
              </a:extLst>
            </p:cNvPr>
            <p:cNvSpPr txBox="1"/>
            <p:nvPr/>
          </p:nvSpPr>
          <p:spPr>
            <a:xfrm>
              <a:off x="7010400" y="2401253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Part Information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4D9278D-5E72-4020-9EA5-D929EB33D8B9}"/>
              </a:ext>
            </a:extLst>
          </p:cNvPr>
          <p:cNvGrpSpPr/>
          <p:nvPr/>
        </p:nvGrpSpPr>
        <p:grpSpPr>
          <a:xfrm>
            <a:off x="6248400" y="3291101"/>
            <a:ext cx="2743200" cy="1017800"/>
            <a:chOff x="6248400" y="3376983"/>
            <a:chExt cx="2743200" cy="1017800"/>
          </a:xfrm>
        </p:grpSpPr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C55F0094-2C02-4522-A505-8B2247DE6877}"/>
                </a:ext>
              </a:extLst>
            </p:cNvPr>
            <p:cNvSpPr txBox="1"/>
            <p:nvPr/>
          </p:nvSpPr>
          <p:spPr>
            <a:xfrm>
              <a:off x="6248400" y="3609953"/>
              <a:ext cx="2743200" cy="7848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t" anchorCtr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/>
                <a:t>Coast (Amplitude vs. Target +3dB):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900" dirty="0"/>
                <a:t>Post-100%: </a:t>
              </a:r>
              <a:r>
                <a:rPr lang="en-US" sz="900" dirty="0">
                  <a:solidFill>
                    <a:schemeClr val="tx1"/>
                  </a:solidFill>
                </a:rPr>
                <a:t>-12dB</a:t>
              </a:r>
              <a:r>
                <a:rPr lang="en-US" sz="900" dirty="0"/>
                <a:t>(100%)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Post-300%: n/</a:t>
              </a:r>
              <a:r>
                <a:rPr lang="en-US" sz="900" dirty="0" err="1">
                  <a:solidFill>
                    <a:schemeClr val="tx1"/>
                  </a:solidFill>
                </a:rPr>
                <a:t>adB</a:t>
              </a:r>
              <a:r>
                <a:rPr lang="en-US" sz="900" dirty="0">
                  <a:solidFill>
                    <a:schemeClr val="tx1"/>
                  </a:solidFill>
                </a:rPr>
                <a:t>(300%)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endParaRPr lang="en-US" sz="900" dirty="0">
                <a:solidFill>
                  <a:schemeClr val="tx1"/>
                </a:solidFill>
              </a:endParaRP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Comments: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77FF2FD5-0DDC-43F0-8DAB-7BDE07F5E2A5}"/>
                </a:ext>
              </a:extLst>
            </p:cNvPr>
            <p:cNvSpPr txBox="1"/>
            <p:nvPr/>
          </p:nvSpPr>
          <p:spPr>
            <a:xfrm>
              <a:off x="6934200" y="3376983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Testing Results</a:t>
              </a:r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543A7B12-F469-47D3-BB0C-09E429DD5687}"/>
              </a:ext>
            </a:extLst>
          </p:cNvPr>
          <p:cNvSpPr txBox="1"/>
          <p:nvPr/>
        </p:nvSpPr>
        <p:spPr>
          <a:xfrm>
            <a:off x="76200" y="6620933"/>
            <a:ext cx="2667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Published By:  C. Li  3/2/2022</a:t>
            </a:r>
            <a:r>
              <a:rPr lang="en-US" sz="800" b="1" dirty="0">
                <a:solidFill>
                  <a:schemeClr val="tx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532543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" name="PLOT1">
            <a:extLst>
              <a:ext uri="{FF2B5EF4-FFF2-40B4-BE49-F238E27FC236}">
                <a16:creationId xmlns:a16="http://schemas.microsoft.com/office/drawing/2014/main" id="{A80CA79C-6C83-4DAB-A90D-2C29BF3F02FC}"/>
              </a:ext>
            </a:extLst>
          </p:cNvPr>
          <p:cNvGraphicFramePr>
            <a:graphicFrameLocks noGrp="1"/>
          </p:cNvGraphicFramePr>
          <p:nvPr>
            <p:ph type="pic" sz="quarter" idx="14"/>
            <p:extLst>
              <p:ext uri="{D42A27DB-BD31-4B8C-83A1-F6EECF244321}">
                <p14:modId xmlns:p14="http://schemas.microsoft.com/office/powerpoint/2010/main" val="3703631933"/>
              </p:ext>
            </p:extLst>
          </p:nvPr>
        </p:nvGraphicFramePr>
        <p:xfrm>
          <a:off x="91440" y="3932238"/>
          <a:ext cx="5943600" cy="256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9" name="Active Picture" r:id="rId3" imgW="4659840" imgH="2880000" progId="LMS.Test.Lab.ActivePicture.1">
                  <p:embed/>
                </p:oleObj>
              </mc:Choice>
              <mc:Fallback>
                <p:oleObj name="Active Picture" r:id="rId3" imgW="4659840" imgH="2880000" progId="LMS.Test.Lab.ActivePicture.1">
                  <p:embed/>
                  <p:pic>
                    <p:nvPicPr>
                      <p:cNvPr id="1026" name="PLOT1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" y="3932238"/>
                        <a:ext cx="5943600" cy="2560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" name="PLOT3">
            <a:extLst>
              <a:ext uri="{FF2B5EF4-FFF2-40B4-BE49-F238E27FC236}">
                <a16:creationId xmlns:a16="http://schemas.microsoft.com/office/drawing/2014/main" id="{8D7DF69C-3B48-4325-BCFC-036C66EE12D9}"/>
              </a:ext>
            </a:extLst>
          </p:cNvPr>
          <p:cNvGraphicFramePr>
            <a:graphicFrameLocks noGrp="1"/>
          </p:cNvGraphicFramePr>
          <p:nvPr>
            <p:ph type="pic" sz="quarter" idx="13"/>
            <p:extLst>
              <p:ext uri="{D42A27DB-BD31-4B8C-83A1-F6EECF244321}">
                <p14:modId xmlns:p14="http://schemas.microsoft.com/office/powerpoint/2010/main" val="3496777759"/>
              </p:ext>
            </p:extLst>
          </p:nvPr>
        </p:nvGraphicFramePr>
        <p:xfrm>
          <a:off x="91440" y="1006475"/>
          <a:ext cx="5943600" cy="255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0" name="Active Picture" r:id="rId5" imgW="4659840" imgH="2880000" progId="LMS.Test.Lab.ActivePicture.1">
                  <p:embed/>
                </p:oleObj>
              </mc:Choice>
              <mc:Fallback>
                <p:oleObj name="Active Picture" r:id="rId5" imgW="4659840" imgH="2880000" progId="LMS.Test.Lab.ActivePicture.1">
                  <p:embed/>
                  <p:pic>
                    <p:nvPicPr>
                      <p:cNvPr id="1028" name="PLOT3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" y="1006475"/>
                        <a:ext cx="5943600" cy="2559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33400" y="832104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Pinion Nose Vertical Vibration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832104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13.89 Order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62000" y="1143000"/>
            <a:ext cx="876300" cy="27699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+75Nm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7ECD3B-2845-414E-82C4-759984DE97DB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896112" y="381000"/>
            <a:ext cx="7333488" cy="400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9" tIns="45714" rIns="91429" bIns="45714">
            <a:spAutoFit/>
          </a:bodyPr>
          <a:lstStyle/>
          <a:p>
            <a:pPr marL="457200" indent="-457200" algn="ctr">
              <a:spcBef>
                <a:spcPts val="0"/>
              </a:spcBef>
              <a:defRPr/>
            </a:pPr>
            <a:r>
              <a:rPr lang="en-US" sz="2000" b="1" dirty="0">
                <a:solidFill>
                  <a:schemeClr val="tx1"/>
                </a:solidFill>
              </a:rPr>
              <a:t>Pre/Post BCW Durability NVH Results - </a:t>
            </a:r>
            <a:r>
              <a:rPr lang="en-US" sz="2000" b="1" i="1" dirty="0">
                <a:solidFill>
                  <a:srgbClr val="FF0000"/>
                </a:solidFill>
              </a:rPr>
              <a:t>Coast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endParaRPr lang="en-US" sz="2000" b="1" i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Footer Placeholder 2"/>
          <p:cNvSpPr txBox="1">
            <a:spLocks/>
          </p:cNvSpPr>
          <p:nvPr/>
        </p:nvSpPr>
        <p:spPr bwMode="auto">
          <a:xfrm>
            <a:off x="3733800" y="6591300"/>
            <a:ext cx="1690688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b="1" i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>
                    <a:lumMod val="50000"/>
                  </a:schemeClr>
                </a:solidFill>
              </a:rPr>
              <a:t>--AAM CONFIDENTIAL--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63440" y="3767328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13.89 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3767328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Torsional Acceleration – Telemetry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62000" y="4066401"/>
            <a:ext cx="876300" cy="27699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+75Nm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248986" y="4412158"/>
            <a:ext cx="2742614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800" b="1" dirty="0"/>
              <a:t>Reference KL Vehicle instrumentation showed vehicle coast was actual a light drive torque (i.e. +75Nm)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7A97078-90DA-4951-84B4-FCBC06D496B6}"/>
              </a:ext>
            </a:extLst>
          </p:cNvPr>
          <p:cNvGrpSpPr/>
          <p:nvPr/>
        </p:nvGrpSpPr>
        <p:grpSpPr>
          <a:xfrm>
            <a:off x="6862132" y="6330950"/>
            <a:ext cx="2053268" cy="462698"/>
            <a:chOff x="6905945" y="6365624"/>
            <a:chExt cx="2053268" cy="462698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D1446D34-2C89-4DBB-B692-73120C99D0B0}"/>
                </a:ext>
              </a:extLst>
            </p:cNvPr>
            <p:cNvSpPr/>
            <p:nvPr/>
          </p:nvSpPr>
          <p:spPr bwMode="auto">
            <a:xfrm rot="5400000">
              <a:off x="8325485" y="6523224"/>
              <a:ext cx="274320" cy="27432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EB7D75BC-A405-4BA9-8C5E-AC0A9DC632DD}"/>
                </a:ext>
              </a:extLst>
            </p:cNvPr>
            <p:cNvSpPr/>
            <p:nvPr/>
          </p:nvSpPr>
          <p:spPr bwMode="auto">
            <a:xfrm rot="5400000">
              <a:off x="8641080" y="6523224"/>
              <a:ext cx="274320" cy="27432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98" name="Multiply 88">
              <a:extLst>
                <a:ext uri="{FF2B5EF4-FFF2-40B4-BE49-F238E27FC236}">
                  <a16:creationId xmlns:a16="http://schemas.microsoft.com/office/drawing/2014/main" id="{D851C247-2DB9-40A4-80F3-279CC6903753}"/>
                </a:ext>
              </a:extLst>
            </p:cNvPr>
            <p:cNvSpPr/>
            <p:nvPr/>
          </p:nvSpPr>
          <p:spPr bwMode="auto">
            <a:xfrm>
              <a:off x="8640777" y="6546084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5F539E47-19C4-4055-9EC1-A0C8725A7F05}"/>
                </a:ext>
              </a:extLst>
            </p:cNvPr>
            <p:cNvSpPr txBox="1"/>
            <p:nvPr/>
          </p:nvSpPr>
          <p:spPr>
            <a:xfrm>
              <a:off x="8287358" y="6365624"/>
              <a:ext cx="356261" cy="2000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CAFCD38-72E5-44E0-AF52-F306E0400BF2}"/>
                </a:ext>
              </a:extLst>
            </p:cNvPr>
            <p:cNvSpPr txBox="1"/>
            <p:nvPr/>
          </p:nvSpPr>
          <p:spPr>
            <a:xfrm>
              <a:off x="8602952" y="6365625"/>
              <a:ext cx="356261" cy="2000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</a:rPr>
                <a:t>No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823AA7F9-0D8F-4F8D-BDC9-EAFCE151EF1D}"/>
                </a:ext>
              </a:extLst>
            </p:cNvPr>
            <p:cNvSpPr txBox="1"/>
            <p:nvPr/>
          </p:nvSpPr>
          <p:spPr>
            <a:xfrm>
              <a:off x="6905945" y="6489768"/>
              <a:ext cx="1447801" cy="33855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r"/>
              <a:r>
                <a:rPr lang="en-US" sz="800" b="1" dirty="0">
                  <a:solidFill>
                    <a:schemeClr val="tx1"/>
                  </a:solidFill>
                </a:rPr>
                <a:t>*Full Tear-Down</a:t>
              </a:r>
            </a:p>
            <a:p>
              <a:pPr algn="r"/>
              <a:r>
                <a:rPr lang="en-US" sz="800" b="1" dirty="0">
                  <a:solidFill>
                    <a:schemeClr val="tx1"/>
                  </a:solidFill>
                </a:rPr>
                <a:t>Analysis Required?</a:t>
              </a:r>
            </a:p>
          </p:txBody>
        </p: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E1FD6091-83DC-40FE-A7E0-C5A4031B5E46}"/>
              </a:ext>
            </a:extLst>
          </p:cNvPr>
          <p:cNvSpPr txBox="1"/>
          <p:nvPr/>
        </p:nvSpPr>
        <p:spPr>
          <a:xfrm>
            <a:off x="5410200" y="6400800"/>
            <a:ext cx="1752600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dirty="0"/>
              <a:t>NOTE:  NVH Requirement is at Post-100% BCW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275D4B6C-AEF6-42A8-9EB3-0C020B2EB197}"/>
              </a:ext>
            </a:extLst>
          </p:cNvPr>
          <p:cNvGrpSpPr/>
          <p:nvPr/>
        </p:nvGrpSpPr>
        <p:grpSpPr>
          <a:xfrm>
            <a:off x="6248401" y="5101372"/>
            <a:ext cx="2743199" cy="1241822"/>
            <a:chOff x="6248401" y="5101372"/>
            <a:chExt cx="2743199" cy="1241822"/>
          </a:xfrm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77D1B4C4-22C3-4AA1-A182-540726F57646}"/>
                </a:ext>
              </a:extLst>
            </p:cNvPr>
            <p:cNvSpPr/>
            <p:nvPr/>
          </p:nvSpPr>
          <p:spPr bwMode="auto">
            <a:xfrm>
              <a:off x="7696200" y="5105400"/>
              <a:ext cx="1295400" cy="1205013"/>
            </a:xfrm>
            <a:prstGeom prst="rect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CF98BDAF-EB34-4691-944E-391594C9E941}"/>
                </a:ext>
              </a:extLst>
            </p:cNvPr>
            <p:cNvSpPr txBox="1"/>
            <p:nvPr/>
          </p:nvSpPr>
          <p:spPr>
            <a:xfrm>
              <a:off x="8018122" y="5237718"/>
              <a:ext cx="973478" cy="36933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Amplitude Post-Test Above Target +3dB &amp; Dynamics Shift &gt;5%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849873FB-5511-4476-8F7A-EAC44EFB8608}"/>
                </a:ext>
              </a:extLst>
            </p:cNvPr>
            <p:cNvSpPr/>
            <p:nvPr/>
          </p:nvSpPr>
          <p:spPr bwMode="auto">
            <a:xfrm rot="5400000">
              <a:off x="7783487" y="5286563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21FCC0F0-1FA8-4902-BF12-84F87E9B5548}"/>
                </a:ext>
              </a:extLst>
            </p:cNvPr>
            <p:cNvSpPr/>
            <p:nvPr/>
          </p:nvSpPr>
          <p:spPr bwMode="auto">
            <a:xfrm rot="5400000">
              <a:off x="7783487" y="5777230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DCC3F30F-CE3A-444C-B6C4-4536288815DC}"/>
                </a:ext>
              </a:extLst>
            </p:cNvPr>
            <p:cNvSpPr txBox="1"/>
            <p:nvPr/>
          </p:nvSpPr>
          <p:spPr>
            <a:xfrm>
              <a:off x="8018122" y="5774551"/>
              <a:ext cx="973478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Amplitude Post-Test at/Below Target +3dB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0E7B6CF5-C44D-42BF-9E59-CFE8107DE94C}"/>
                </a:ext>
              </a:extLst>
            </p:cNvPr>
            <p:cNvSpPr txBox="1"/>
            <p:nvPr/>
          </p:nvSpPr>
          <p:spPr>
            <a:xfrm>
              <a:off x="7696200" y="6114018"/>
              <a:ext cx="12954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0000FF"/>
                  </a:solidFill>
                </a:rPr>
                <a:t>PTR Increase </a:t>
              </a:r>
              <a:r>
                <a:rPr lang="en-US" sz="800" b="1" dirty="0" err="1">
                  <a:solidFill>
                    <a:srgbClr val="0000FF"/>
                  </a:solidFill>
                </a:rPr>
                <a:t>Req’d</a:t>
              </a:r>
              <a:r>
                <a:rPr lang="en-US" sz="800" b="1" dirty="0">
                  <a:solidFill>
                    <a:srgbClr val="0000FF"/>
                  </a:solidFill>
                </a:rPr>
                <a:t>?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46D96BBE-B056-4B2B-8B14-E6CB7AF5DBFA}"/>
                </a:ext>
              </a:extLst>
            </p:cNvPr>
            <p:cNvSpPr/>
            <p:nvPr/>
          </p:nvSpPr>
          <p:spPr bwMode="auto">
            <a:xfrm>
              <a:off x="6248401" y="5105400"/>
              <a:ext cx="1371599" cy="12060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3CE47FD2-CD3A-4159-BD89-4A88D794633A}"/>
                </a:ext>
              </a:extLst>
            </p:cNvPr>
            <p:cNvSpPr txBox="1"/>
            <p:nvPr/>
          </p:nvSpPr>
          <p:spPr>
            <a:xfrm>
              <a:off x="6559236" y="5175250"/>
              <a:ext cx="1060764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PASS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≤ Target +3dB</a:t>
              </a: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4C40E048-1F7F-42F6-A447-769F0C00DADD}"/>
                </a:ext>
              </a:extLst>
            </p:cNvPr>
            <p:cNvSpPr/>
            <p:nvPr/>
          </p:nvSpPr>
          <p:spPr bwMode="auto">
            <a:xfrm rot="5400000">
              <a:off x="6324601" y="5179505"/>
              <a:ext cx="274320" cy="274320"/>
            </a:xfrm>
            <a:prstGeom prst="rect">
              <a:avLst/>
            </a:prstGeom>
            <a:solidFill>
              <a:srgbClr val="008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93FDE999-4114-4ACE-BB51-90E94C9EABE7}"/>
                </a:ext>
              </a:extLst>
            </p:cNvPr>
            <p:cNvSpPr/>
            <p:nvPr/>
          </p:nvSpPr>
          <p:spPr bwMode="auto">
            <a:xfrm rot="5400000">
              <a:off x="6324601" y="5521076"/>
              <a:ext cx="274320" cy="274320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94F6021B-BE1C-4E3F-A2DD-585ECEB58DC7}"/>
                </a:ext>
              </a:extLst>
            </p:cNvPr>
            <p:cNvSpPr txBox="1"/>
            <p:nvPr/>
          </p:nvSpPr>
          <p:spPr>
            <a:xfrm>
              <a:off x="6286500" y="6127750"/>
              <a:ext cx="129953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0000FF"/>
                  </a:solidFill>
                </a:rPr>
                <a:t>Amplitude (Post-Test)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E5501AA2-AB31-4432-8CC9-AE40FB4842FC}"/>
                </a:ext>
              </a:extLst>
            </p:cNvPr>
            <p:cNvSpPr/>
            <p:nvPr/>
          </p:nvSpPr>
          <p:spPr bwMode="auto">
            <a:xfrm rot="5400000">
              <a:off x="6324601" y="5869886"/>
              <a:ext cx="274320" cy="274320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5ACECDC6-0601-4004-B83A-AE71DB870CC4}"/>
                </a:ext>
              </a:extLst>
            </p:cNvPr>
            <p:cNvSpPr txBox="1"/>
            <p:nvPr/>
          </p:nvSpPr>
          <p:spPr>
            <a:xfrm>
              <a:off x="6563995" y="5867400"/>
              <a:ext cx="1056005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ABSOLUTE FAIL*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&gt; Target +6dB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F1CDA1FE-B9B0-4962-A577-E1CEAE441073}"/>
                </a:ext>
              </a:extLst>
            </p:cNvPr>
            <p:cNvSpPr txBox="1"/>
            <p:nvPr/>
          </p:nvSpPr>
          <p:spPr>
            <a:xfrm>
              <a:off x="6559235" y="5474385"/>
              <a:ext cx="1060765" cy="36933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CONDITIONAL FAIL*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Between Target +3dB and Target +6dB</a:t>
              </a:r>
            </a:p>
          </p:txBody>
        </p:sp>
        <p:sp>
          <p:nvSpPr>
            <p:cNvPr id="138" name="Multiply 93">
              <a:extLst>
                <a:ext uri="{FF2B5EF4-FFF2-40B4-BE49-F238E27FC236}">
                  <a16:creationId xmlns:a16="http://schemas.microsoft.com/office/drawing/2014/main" id="{CA103BA6-D3F9-457D-9D58-26A0ECB77186}"/>
                </a:ext>
              </a:extLst>
            </p:cNvPr>
            <p:cNvSpPr/>
            <p:nvPr/>
          </p:nvSpPr>
          <p:spPr bwMode="auto">
            <a:xfrm>
              <a:off x="7783488" y="5799221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9" name="Multiply 94">
              <a:extLst>
                <a:ext uri="{FF2B5EF4-FFF2-40B4-BE49-F238E27FC236}">
                  <a16:creationId xmlns:a16="http://schemas.microsoft.com/office/drawing/2014/main" id="{36DD94BD-290C-4E21-A744-E87C4BB2E308}"/>
                </a:ext>
              </a:extLst>
            </p:cNvPr>
            <p:cNvSpPr/>
            <p:nvPr/>
          </p:nvSpPr>
          <p:spPr bwMode="auto">
            <a:xfrm>
              <a:off x="6324601" y="5200650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BE34C5F8-540E-4D91-A17B-4789BDE5EDB8}"/>
                </a:ext>
              </a:extLst>
            </p:cNvPr>
            <p:cNvSpPr txBox="1"/>
            <p:nvPr/>
          </p:nvSpPr>
          <p:spPr>
            <a:xfrm>
              <a:off x="7726180" y="5101372"/>
              <a:ext cx="401820" cy="21544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018BBF52-3D43-4485-86DC-AC3A78F7F63B}"/>
                </a:ext>
              </a:extLst>
            </p:cNvPr>
            <p:cNvSpPr txBox="1"/>
            <p:nvPr/>
          </p:nvSpPr>
          <p:spPr>
            <a:xfrm>
              <a:off x="7724097" y="5596408"/>
              <a:ext cx="401820" cy="21544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</a:rPr>
                <a:t>NO</a:t>
              </a:r>
            </a:p>
          </p:txBody>
        </p: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6CD0EB87-FED2-45B8-B5AB-7B639BFE5C67}"/>
              </a:ext>
            </a:extLst>
          </p:cNvPr>
          <p:cNvSpPr txBox="1"/>
          <p:nvPr/>
        </p:nvSpPr>
        <p:spPr>
          <a:xfrm>
            <a:off x="2259006" y="1855758"/>
            <a:ext cx="609600" cy="215444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-16dB</a:t>
            </a:r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2CEAD85A-C357-4E98-85AE-A8771C5A4708}"/>
              </a:ext>
            </a:extLst>
          </p:cNvPr>
          <p:cNvCxnSpPr>
            <a:cxnSpLocks/>
            <a:stCxn id="151" idx="3"/>
          </p:cNvCxnSpPr>
          <p:nvPr/>
        </p:nvCxnSpPr>
        <p:spPr bwMode="auto">
          <a:xfrm>
            <a:off x="2868606" y="1963480"/>
            <a:ext cx="759686" cy="5797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5D9379AD-91D7-46E4-A08B-DFC2CBC7D3D4}"/>
              </a:ext>
            </a:extLst>
          </p:cNvPr>
          <p:cNvSpPr txBox="1"/>
          <p:nvPr/>
        </p:nvSpPr>
        <p:spPr>
          <a:xfrm>
            <a:off x="2259006" y="1586172"/>
            <a:ext cx="609600" cy="215444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err="1"/>
              <a:t>XdB</a:t>
            </a:r>
            <a:endParaRPr lang="en-US" sz="800" b="1" dirty="0"/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63A40D0B-C7C8-442A-AE6C-E58F8FD04C3A}"/>
              </a:ext>
            </a:extLst>
          </p:cNvPr>
          <p:cNvCxnSpPr>
            <a:cxnSpLocks/>
            <a:stCxn id="153" idx="3"/>
          </p:cNvCxnSpPr>
          <p:nvPr/>
        </p:nvCxnSpPr>
        <p:spPr bwMode="auto">
          <a:xfrm flipV="1">
            <a:off x="2868606" y="1637500"/>
            <a:ext cx="759686" cy="5639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A358E2A3-37A5-499E-8FA7-DB62CF917878}"/>
              </a:ext>
            </a:extLst>
          </p:cNvPr>
          <p:cNvGrpSpPr/>
          <p:nvPr/>
        </p:nvGrpSpPr>
        <p:grpSpPr>
          <a:xfrm>
            <a:off x="3840480" y="5634334"/>
            <a:ext cx="1981200" cy="461666"/>
            <a:chOff x="3840480" y="5532121"/>
            <a:chExt cx="1981200" cy="461666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F89AAC6C-F111-4A12-93F8-39A478CA4056}"/>
                </a:ext>
              </a:extLst>
            </p:cNvPr>
            <p:cNvSpPr/>
            <p:nvPr/>
          </p:nvSpPr>
          <p:spPr bwMode="auto">
            <a:xfrm>
              <a:off x="3840480" y="5532121"/>
              <a:ext cx="1981200" cy="46166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654CC6AE-E882-4AC6-8F87-B84D059D9B27}"/>
                </a:ext>
              </a:extLst>
            </p:cNvPr>
            <p:cNvCxnSpPr/>
            <p:nvPr/>
          </p:nvCxnSpPr>
          <p:spPr bwMode="auto">
            <a:xfrm>
              <a:off x="3916680" y="564007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83238898-838C-4BB8-8779-AFD8476A789F}"/>
                </a:ext>
              </a:extLst>
            </p:cNvPr>
            <p:cNvCxnSpPr/>
            <p:nvPr/>
          </p:nvCxnSpPr>
          <p:spPr bwMode="auto">
            <a:xfrm>
              <a:off x="3916680" y="576072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B6968F62-D9B8-42DF-8E7C-B97EF5578579}"/>
                </a:ext>
              </a:extLst>
            </p:cNvPr>
            <p:cNvSpPr txBox="1"/>
            <p:nvPr/>
          </p:nvSpPr>
          <p:spPr>
            <a:xfrm>
              <a:off x="4265930" y="5532122"/>
              <a:ext cx="15557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Pre-Test (0% BCW)</a:t>
              </a:r>
            </a:p>
            <a:p>
              <a:r>
                <a:rPr lang="en-US" sz="800" b="1" dirty="0"/>
                <a:t>Post-Test (100% BCW)</a:t>
              </a:r>
            </a:p>
            <a:p>
              <a:r>
                <a:rPr lang="en-US" sz="800" b="1" dirty="0"/>
                <a:t>Post-Test (300% BCW)</a:t>
              </a:r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E8210EDC-9E87-4C55-8C7D-2758E2F0A55C}"/>
                </a:ext>
              </a:extLst>
            </p:cNvPr>
            <p:cNvCxnSpPr/>
            <p:nvPr/>
          </p:nvCxnSpPr>
          <p:spPr bwMode="auto">
            <a:xfrm>
              <a:off x="3916680" y="5884545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2" name="Text Box 9">
            <a:extLst>
              <a:ext uri="{FF2B5EF4-FFF2-40B4-BE49-F238E27FC236}">
                <a16:creationId xmlns:a16="http://schemas.microsoft.com/office/drawing/2014/main" id="{32C34A2C-F18E-4EC9-8648-639B23585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7103"/>
            <a:ext cx="7329487" cy="400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9" tIns="45714" rIns="91429" bIns="45714">
            <a:spAutoFit/>
          </a:bodyPr>
          <a:lstStyle/>
          <a:p>
            <a:pPr marL="457200" indent="-457200" algn="ctr">
              <a:spcBef>
                <a:spcPts val="0"/>
              </a:spcBef>
              <a:defRPr/>
            </a:pPr>
            <a:r>
              <a:rPr 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Stellantis CUSW 2-Speed PV PTU 131mm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749C048-28D9-42FB-81C4-8B703B7B9768}"/>
              </a:ext>
            </a:extLst>
          </p:cNvPr>
          <p:cNvGrpSpPr/>
          <p:nvPr/>
        </p:nvGrpSpPr>
        <p:grpSpPr>
          <a:xfrm>
            <a:off x="6248400" y="847725"/>
            <a:ext cx="2743200" cy="1313914"/>
            <a:chOff x="6324600" y="914400"/>
            <a:chExt cx="2743200" cy="1313914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4BA97802-E1C2-4DE5-BC43-7D101598F3EA}"/>
                </a:ext>
              </a:extLst>
            </p:cNvPr>
            <p:cNvSpPr txBox="1"/>
            <p:nvPr/>
          </p:nvSpPr>
          <p:spPr>
            <a:xfrm>
              <a:off x="6324600" y="1151096"/>
              <a:ext cx="2743200" cy="10772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 Order: 282084</a:t>
              </a:r>
              <a:r>
                <a:rPr lang="en-US" sz="800" b="1" dirty="0">
                  <a:solidFill>
                    <a:schemeClr val="tx1"/>
                  </a:solidFill>
                </a:rPr>
                <a:t/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 Dyno: RHTC AWD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Test(s) Performed: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Pre-Test (2/10/2022)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Post-100% (3/2/2022)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Post-300% (n/a)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PTL Test Order:  282083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PTL Sample Number: 0002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34685409-4E69-4A6A-A369-212B5A8BF32C}"/>
                </a:ext>
              </a:extLst>
            </p:cNvPr>
            <p:cNvSpPr txBox="1"/>
            <p:nvPr/>
          </p:nvSpPr>
          <p:spPr>
            <a:xfrm>
              <a:off x="7010400" y="914400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Testing Information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B2AA4183-4263-4BFC-BF2D-669335123ADC}"/>
              </a:ext>
            </a:extLst>
          </p:cNvPr>
          <p:cNvGrpSpPr/>
          <p:nvPr/>
        </p:nvGrpSpPr>
        <p:grpSpPr>
          <a:xfrm>
            <a:off x="6248400" y="2197715"/>
            <a:ext cx="2743200" cy="1016585"/>
            <a:chOff x="6324600" y="2401253"/>
            <a:chExt cx="2743200" cy="1016585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6276DF17-0E09-44DB-862A-B1FE3F2558E0}"/>
                </a:ext>
              </a:extLst>
            </p:cNvPr>
            <p:cNvSpPr txBox="1"/>
            <p:nvPr/>
          </p:nvSpPr>
          <p:spPr>
            <a:xfrm>
              <a:off x="6324600" y="2633008"/>
              <a:ext cx="2743200" cy="7848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Design Level: PV (diff re-sourcing)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P/N: 68333255AE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S/N: T36P22024115524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Ratio: 2.73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Prop Info: PS1247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DF512C70-291B-4582-9533-13D0F44A5939}"/>
                </a:ext>
              </a:extLst>
            </p:cNvPr>
            <p:cNvSpPr txBox="1"/>
            <p:nvPr/>
          </p:nvSpPr>
          <p:spPr>
            <a:xfrm>
              <a:off x="7010400" y="2401253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Part Information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E92F00E2-82C0-4C74-9BEB-FA8ECF6F5CEF}"/>
              </a:ext>
            </a:extLst>
          </p:cNvPr>
          <p:cNvGrpSpPr/>
          <p:nvPr/>
        </p:nvGrpSpPr>
        <p:grpSpPr>
          <a:xfrm>
            <a:off x="6248400" y="3291101"/>
            <a:ext cx="2743200" cy="1017800"/>
            <a:chOff x="6248400" y="3376983"/>
            <a:chExt cx="2743200" cy="1017800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63896A73-65A5-4240-A87B-86E5A8D7E368}"/>
                </a:ext>
              </a:extLst>
            </p:cNvPr>
            <p:cNvSpPr txBox="1"/>
            <p:nvPr/>
          </p:nvSpPr>
          <p:spPr>
            <a:xfrm>
              <a:off x="6248400" y="3609953"/>
              <a:ext cx="2743200" cy="7848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t" anchorCtr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/>
                <a:t>Coast (Amplitude vs. Target +3dB):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900" dirty="0"/>
                <a:t>Post-100%: </a:t>
              </a:r>
              <a:r>
                <a:rPr lang="en-US" sz="900" dirty="0">
                  <a:solidFill>
                    <a:srgbClr val="0000FF"/>
                  </a:solidFill>
                </a:rPr>
                <a:t>-</a:t>
              </a:r>
              <a:r>
                <a:rPr lang="en-US" sz="900" dirty="0">
                  <a:solidFill>
                    <a:schemeClr val="tx1"/>
                  </a:solidFill>
                </a:rPr>
                <a:t>16dB</a:t>
              </a:r>
              <a:r>
                <a:rPr lang="en-US" sz="900" dirty="0"/>
                <a:t>(100%)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Post-300%: n/</a:t>
              </a:r>
              <a:r>
                <a:rPr lang="en-US" sz="900" dirty="0" err="1">
                  <a:solidFill>
                    <a:schemeClr val="tx1"/>
                  </a:solidFill>
                </a:rPr>
                <a:t>adB</a:t>
              </a:r>
              <a:r>
                <a:rPr lang="en-US" sz="900" dirty="0">
                  <a:solidFill>
                    <a:schemeClr val="tx1"/>
                  </a:solidFill>
                </a:rPr>
                <a:t>(300%)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endParaRPr lang="en-US" sz="900" dirty="0">
                <a:solidFill>
                  <a:schemeClr val="tx1"/>
                </a:solidFill>
              </a:endParaRP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Comments: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F67308E-9C15-4CE8-9959-6F799EC4BC51}"/>
                </a:ext>
              </a:extLst>
            </p:cNvPr>
            <p:cNvSpPr txBox="1"/>
            <p:nvPr/>
          </p:nvSpPr>
          <p:spPr>
            <a:xfrm>
              <a:off x="6934200" y="3376983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Testing Results</a:t>
              </a:r>
            </a:p>
          </p:txBody>
        </p: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460503BD-78B6-4D4E-926A-E54AB1FAF410}"/>
              </a:ext>
            </a:extLst>
          </p:cNvPr>
          <p:cNvSpPr txBox="1"/>
          <p:nvPr/>
        </p:nvSpPr>
        <p:spPr>
          <a:xfrm>
            <a:off x="76200" y="6620933"/>
            <a:ext cx="2667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Published By:  C. Li  3/2/2022</a:t>
            </a:r>
            <a:r>
              <a:rPr lang="en-US" sz="800" b="1" dirty="0">
                <a:solidFill>
                  <a:schemeClr val="tx1"/>
                </a:solidFill>
              </a:rPr>
              <a:t/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260779EE-9DE3-46D4-95B9-53FE59000003}"/>
              </a:ext>
            </a:extLst>
          </p:cNvPr>
          <p:cNvGrpSpPr/>
          <p:nvPr/>
        </p:nvGrpSpPr>
        <p:grpSpPr>
          <a:xfrm>
            <a:off x="3657600" y="2438400"/>
            <a:ext cx="2240280" cy="707888"/>
            <a:chOff x="3581400" y="2438400"/>
            <a:chExt cx="2240280" cy="707888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297007AB-9F4B-473D-94D4-3740A962745F}"/>
                </a:ext>
              </a:extLst>
            </p:cNvPr>
            <p:cNvSpPr/>
            <p:nvPr/>
          </p:nvSpPr>
          <p:spPr bwMode="auto">
            <a:xfrm>
              <a:off x="3581400" y="2438400"/>
              <a:ext cx="2133600" cy="69917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1B77907B-005D-462B-8391-A76F9EA48769}"/>
                </a:ext>
              </a:extLst>
            </p:cNvPr>
            <p:cNvCxnSpPr/>
            <p:nvPr/>
          </p:nvCxnSpPr>
          <p:spPr bwMode="auto">
            <a:xfrm>
              <a:off x="3657600" y="254635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16798ECA-C341-4163-A766-01767144851E}"/>
                </a:ext>
              </a:extLst>
            </p:cNvPr>
            <p:cNvCxnSpPr/>
            <p:nvPr/>
          </p:nvCxnSpPr>
          <p:spPr bwMode="auto">
            <a:xfrm>
              <a:off x="3657600" y="266700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A5CD6B40-018A-4B17-951E-55856A15A794}"/>
                </a:ext>
              </a:extLst>
            </p:cNvPr>
            <p:cNvSpPr txBox="1"/>
            <p:nvPr/>
          </p:nvSpPr>
          <p:spPr>
            <a:xfrm>
              <a:off x="4006850" y="2438402"/>
              <a:ext cx="18148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Pre-Test (0% BCW)</a:t>
              </a:r>
            </a:p>
            <a:p>
              <a:r>
                <a:rPr lang="en-US" sz="800" b="1" dirty="0"/>
                <a:t>Post-Test (100% BCW)</a:t>
              </a:r>
            </a:p>
            <a:p>
              <a:r>
                <a:rPr lang="en-US" sz="800" b="1" dirty="0"/>
                <a:t>Post-Test (300% BCW)</a:t>
              </a:r>
            </a:p>
            <a:p>
              <a:r>
                <a:rPr lang="en-US" sz="800" b="1" dirty="0"/>
                <a:t>0.8µm Preliminary Target</a:t>
              </a:r>
            </a:p>
            <a:p>
              <a:r>
                <a:rPr lang="en-US" sz="800" b="1" dirty="0"/>
                <a:t>0.8µm Preliminary Target + 3dB</a:t>
              </a:r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F0CC5235-1F0C-487F-B696-798A7A7B0404}"/>
                </a:ext>
              </a:extLst>
            </p:cNvPr>
            <p:cNvCxnSpPr/>
            <p:nvPr/>
          </p:nvCxnSpPr>
          <p:spPr bwMode="auto">
            <a:xfrm>
              <a:off x="3657600" y="2790825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F62327FF-8ECA-4169-B7E5-6532FA3A97BB}"/>
                </a:ext>
              </a:extLst>
            </p:cNvPr>
            <p:cNvCxnSpPr/>
            <p:nvPr/>
          </p:nvCxnSpPr>
          <p:spPr bwMode="auto">
            <a:xfrm>
              <a:off x="3661410" y="2905497"/>
              <a:ext cx="3810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739AEF26-588B-4F5C-A45D-8DE50E779F56}"/>
                </a:ext>
              </a:extLst>
            </p:cNvPr>
            <p:cNvCxnSpPr/>
            <p:nvPr/>
          </p:nvCxnSpPr>
          <p:spPr bwMode="auto">
            <a:xfrm>
              <a:off x="3657600" y="3017520"/>
              <a:ext cx="3810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61132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0" name="PLOT1">
            <a:extLst>
              <a:ext uri="{FF2B5EF4-FFF2-40B4-BE49-F238E27FC236}">
                <a16:creationId xmlns:a16="http://schemas.microsoft.com/office/drawing/2014/main" id="{1D6BEC4C-9E88-4339-A768-9CEA535CA1BA}"/>
              </a:ext>
            </a:extLst>
          </p:cNvPr>
          <p:cNvGraphicFramePr>
            <a:graphicFrameLocks noGrp="1"/>
          </p:cNvGraphicFramePr>
          <p:nvPr>
            <p:ph type="pic" sz="quarter" idx="14"/>
            <p:extLst>
              <p:ext uri="{D42A27DB-BD31-4B8C-83A1-F6EECF244321}">
                <p14:modId xmlns:p14="http://schemas.microsoft.com/office/powerpoint/2010/main" val="3362930564"/>
              </p:ext>
            </p:extLst>
          </p:nvPr>
        </p:nvGraphicFramePr>
        <p:xfrm>
          <a:off x="91440" y="3932238"/>
          <a:ext cx="5867400" cy="256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3" name="Active Picture" r:id="rId3" imgW="4659840" imgH="2880000" progId="LMS.Test.Lab.ActivePicture.1">
                  <p:embed/>
                </p:oleObj>
              </mc:Choice>
              <mc:Fallback>
                <p:oleObj name="Active Picture" r:id="rId3" imgW="4659840" imgH="2880000" progId="LMS.Test.Lab.ActivePicture.1">
                  <p:embed/>
                  <p:pic>
                    <p:nvPicPr>
                      <p:cNvPr id="1026" name="PLOT1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" y="3932238"/>
                        <a:ext cx="5867400" cy="2560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" name="PLOT3">
            <a:extLst>
              <a:ext uri="{FF2B5EF4-FFF2-40B4-BE49-F238E27FC236}">
                <a16:creationId xmlns:a16="http://schemas.microsoft.com/office/drawing/2014/main" id="{1285A69A-939A-419D-8318-DA1850334C95}"/>
              </a:ext>
            </a:extLst>
          </p:cNvPr>
          <p:cNvGraphicFramePr>
            <a:graphicFrameLocks noGrp="1"/>
          </p:cNvGraphicFramePr>
          <p:nvPr>
            <p:ph type="pic" sz="quarter" idx="13"/>
            <p:extLst>
              <p:ext uri="{D42A27DB-BD31-4B8C-83A1-F6EECF244321}">
                <p14:modId xmlns:p14="http://schemas.microsoft.com/office/powerpoint/2010/main" val="2750206648"/>
              </p:ext>
            </p:extLst>
          </p:nvPr>
        </p:nvGraphicFramePr>
        <p:xfrm>
          <a:off x="91440" y="1006475"/>
          <a:ext cx="5943600" cy="255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4" name="Active Picture" r:id="rId5" imgW="4659840" imgH="2880000" progId="LMS.Test.Lab.ActivePicture.1">
                  <p:embed/>
                </p:oleObj>
              </mc:Choice>
              <mc:Fallback>
                <p:oleObj name="Active Picture" r:id="rId5" imgW="4659840" imgH="2880000" progId="LMS.Test.Lab.ActivePicture.1">
                  <p:embed/>
                  <p:pic>
                    <p:nvPicPr>
                      <p:cNvPr id="1028" name="PLOT3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" y="1006475"/>
                        <a:ext cx="5943600" cy="2559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33400" y="832104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Pinion Nose Vertical Vibration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832104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13.89 Order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62000" y="1143000"/>
            <a:ext cx="876300" cy="27699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-75Nm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7ECD3B-2845-414E-82C4-759984DE97DB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896112" y="381000"/>
            <a:ext cx="7333488" cy="400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9" tIns="45714" rIns="91429" bIns="45714">
            <a:spAutoFit/>
          </a:bodyPr>
          <a:lstStyle/>
          <a:p>
            <a:pPr marL="457200" indent="-457200" algn="ctr">
              <a:spcBef>
                <a:spcPts val="0"/>
              </a:spcBef>
              <a:defRPr/>
            </a:pPr>
            <a:r>
              <a:rPr lang="en-US" sz="2000" b="1" dirty="0">
                <a:solidFill>
                  <a:schemeClr val="tx1"/>
                </a:solidFill>
              </a:rPr>
              <a:t>Pre/Post BCW Durability NVH Results - </a:t>
            </a:r>
            <a:r>
              <a:rPr lang="en-US" sz="2000" b="1" i="1" dirty="0">
                <a:solidFill>
                  <a:srgbClr val="FF0000"/>
                </a:solidFill>
              </a:rPr>
              <a:t>Coast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endParaRPr lang="en-US" sz="2000" b="1" i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Footer Placeholder 2"/>
          <p:cNvSpPr txBox="1">
            <a:spLocks/>
          </p:cNvSpPr>
          <p:nvPr/>
        </p:nvSpPr>
        <p:spPr bwMode="auto">
          <a:xfrm>
            <a:off x="3733800" y="6591300"/>
            <a:ext cx="1690688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b="1" i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>
                    <a:lumMod val="50000"/>
                  </a:schemeClr>
                </a:solidFill>
              </a:rPr>
              <a:t>--AAM CONFIDENTIAL--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63440" y="3767328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13.89 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3767328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Torsional Acceleration – Telemetry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62000" y="4066401"/>
            <a:ext cx="876300" cy="27699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-75Nm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A6BE604-6375-43EF-864C-8CA640385604}"/>
              </a:ext>
            </a:extLst>
          </p:cNvPr>
          <p:cNvGrpSpPr/>
          <p:nvPr/>
        </p:nvGrpSpPr>
        <p:grpSpPr>
          <a:xfrm>
            <a:off x="6862132" y="6330950"/>
            <a:ext cx="2053268" cy="462698"/>
            <a:chOff x="6905945" y="6365624"/>
            <a:chExt cx="2053268" cy="462698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04E105A7-8056-49F3-9B3C-DC50F8EC4EE8}"/>
                </a:ext>
              </a:extLst>
            </p:cNvPr>
            <p:cNvSpPr/>
            <p:nvPr/>
          </p:nvSpPr>
          <p:spPr bwMode="auto">
            <a:xfrm rot="5400000">
              <a:off x="8325485" y="6523224"/>
              <a:ext cx="274320" cy="27432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746B4D2-DEF9-41B6-A273-0A98A2939D85}"/>
                </a:ext>
              </a:extLst>
            </p:cNvPr>
            <p:cNvSpPr/>
            <p:nvPr/>
          </p:nvSpPr>
          <p:spPr bwMode="auto">
            <a:xfrm rot="5400000">
              <a:off x="8641080" y="6523224"/>
              <a:ext cx="274320" cy="27432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98" name="Multiply 88">
              <a:extLst>
                <a:ext uri="{FF2B5EF4-FFF2-40B4-BE49-F238E27FC236}">
                  <a16:creationId xmlns:a16="http://schemas.microsoft.com/office/drawing/2014/main" id="{913F8086-6288-4440-82E3-2F3392F6D8F9}"/>
                </a:ext>
              </a:extLst>
            </p:cNvPr>
            <p:cNvSpPr/>
            <p:nvPr/>
          </p:nvSpPr>
          <p:spPr bwMode="auto">
            <a:xfrm>
              <a:off x="8640777" y="6546084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58C5CD95-A4C4-4EC7-B9D9-11DDE993AC81}"/>
                </a:ext>
              </a:extLst>
            </p:cNvPr>
            <p:cNvSpPr txBox="1"/>
            <p:nvPr/>
          </p:nvSpPr>
          <p:spPr>
            <a:xfrm>
              <a:off x="8287358" y="6365624"/>
              <a:ext cx="356261" cy="2000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D3F6427D-D787-4CA0-8908-168186DCF05E}"/>
                </a:ext>
              </a:extLst>
            </p:cNvPr>
            <p:cNvSpPr txBox="1"/>
            <p:nvPr/>
          </p:nvSpPr>
          <p:spPr>
            <a:xfrm>
              <a:off x="8602952" y="6365625"/>
              <a:ext cx="356261" cy="2000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</a:rPr>
                <a:t>No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7EE223AB-7976-45BA-B236-DD2BAE7F0677}"/>
                </a:ext>
              </a:extLst>
            </p:cNvPr>
            <p:cNvSpPr txBox="1"/>
            <p:nvPr/>
          </p:nvSpPr>
          <p:spPr>
            <a:xfrm>
              <a:off x="6905945" y="6489768"/>
              <a:ext cx="1447801" cy="33855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r"/>
              <a:r>
                <a:rPr lang="en-US" sz="800" b="1" dirty="0">
                  <a:solidFill>
                    <a:schemeClr val="tx1"/>
                  </a:solidFill>
                </a:rPr>
                <a:t>*Full Tear-Down</a:t>
              </a:r>
            </a:p>
            <a:p>
              <a:pPr algn="r"/>
              <a:r>
                <a:rPr lang="en-US" sz="800" b="1" dirty="0">
                  <a:solidFill>
                    <a:schemeClr val="tx1"/>
                  </a:solidFill>
                </a:rPr>
                <a:t>Analysis Required?</a:t>
              </a:r>
            </a:p>
          </p:txBody>
        </p: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4986C4D4-BDED-40B9-80C5-22107225A3A1}"/>
              </a:ext>
            </a:extLst>
          </p:cNvPr>
          <p:cNvSpPr txBox="1"/>
          <p:nvPr/>
        </p:nvSpPr>
        <p:spPr>
          <a:xfrm>
            <a:off x="5410200" y="6400800"/>
            <a:ext cx="1752600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dirty="0"/>
              <a:t>NOTE:  NVH Requirement is at Post-100% BCW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2192B4AF-E371-4D63-AC0A-1C165783EF80}"/>
              </a:ext>
            </a:extLst>
          </p:cNvPr>
          <p:cNvGrpSpPr/>
          <p:nvPr/>
        </p:nvGrpSpPr>
        <p:grpSpPr>
          <a:xfrm>
            <a:off x="6248401" y="5101372"/>
            <a:ext cx="2743199" cy="1241822"/>
            <a:chOff x="6248401" y="5101372"/>
            <a:chExt cx="2743199" cy="1241822"/>
          </a:xfrm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7AA7F4BF-0193-4373-A2E4-772E7D232F24}"/>
                </a:ext>
              </a:extLst>
            </p:cNvPr>
            <p:cNvSpPr/>
            <p:nvPr/>
          </p:nvSpPr>
          <p:spPr bwMode="auto">
            <a:xfrm>
              <a:off x="7696200" y="5105400"/>
              <a:ext cx="1295400" cy="1205013"/>
            </a:xfrm>
            <a:prstGeom prst="rect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91514FFC-F86D-4ABC-8609-555CEEB0847A}"/>
                </a:ext>
              </a:extLst>
            </p:cNvPr>
            <p:cNvSpPr txBox="1"/>
            <p:nvPr/>
          </p:nvSpPr>
          <p:spPr>
            <a:xfrm>
              <a:off x="8018122" y="5237718"/>
              <a:ext cx="973478" cy="36933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Amplitude Post-Test Above Target +3dB &amp; Dynamics Shift &gt;5%</a:t>
              </a: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05A48B02-6727-4A6F-8487-F27F1684E91E}"/>
                </a:ext>
              </a:extLst>
            </p:cNvPr>
            <p:cNvSpPr/>
            <p:nvPr/>
          </p:nvSpPr>
          <p:spPr bwMode="auto">
            <a:xfrm rot="5400000">
              <a:off x="7783487" y="5286563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90D8E9CE-BB25-4EE5-A164-C81505875111}"/>
                </a:ext>
              </a:extLst>
            </p:cNvPr>
            <p:cNvSpPr/>
            <p:nvPr/>
          </p:nvSpPr>
          <p:spPr bwMode="auto">
            <a:xfrm rot="5400000">
              <a:off x="7783487" y="5777230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4835AF92-1682-4679-940B-762C5589D4FC}"/>
                </a:ext>
              </a:extLst>
            </p:cNvPr>
            <p:cNvSpPr txBox="1"/>
            <p:nvPr/>
          </p:nvSpPr>
          <p:spPr>
            <a:xfrm>
              <a:off x="8018122" y="5774551"/>
              <a:ext cx="973478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Amplitude Post-Test at/Below Target +3dB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18C336F9-5D27-423A-A879-59996B564509}"/>
                </a:ext>
              </a:extLst>
            </p:cNvPr>
            <p:cNvSpPr txBox="1"/>
            <p:nvPr/>
          </p:nvSpPr>
          <p:spPr>
            <a:xfrm>
              <a:off x="7696200" y="6114018"/>
              <a:ext cx="12954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0000FF"/>
                  </a:solidFill>
                </a:rPr>
                <a:t>PTR Increase </a:t>
              </a:r>
              <a:r>
                <a:rPr lang="en-US" sz="800" b="1" dirty="0" err="1">
                  <a:solidFill>
                    <a:srgbClr val="0000FF"/>
                  </a:solidFill>
                </a:rPr>
                <a:t>Req’d</a:t>
              </a:r>
              <a:r>
                <a:rPr lang="en-US" sz="800" b="1" dirty="0">
                  <a:solidFill>
                    <a:srgbClr val="0000FF"/>
                  </a:solidFill>
                </a:rPr>
                <a:t>?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9E4A3B26-F416-4ABC-B55E-45774EC12D93}"/>
                </a:ext>
              </a:extLst>
            </p:cNvPr>
            <p:cNvSpPr/>
            <p:nvPr/>
          </p:nvSpPr>
          <p:spPr bwMode="auto">
            <a:xfrm>
              <a:off x="6248401" y="5105400"/>
              <a:ext cx="1371599" cy="12060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3E77D5D5-17B7-4C12-A970-9FE01B9E4514}"/>
                </a:ext>
              </a:extLst>
            </p:cNvPr>
            <p:cNvSpPr txBox="1"/>
            <p:nvPr/>
          </p:nvSpPr>
          <p:spPr>
            <a:xfrm>
              <a:off x="6559236" y="5175250"/>
              <a:ext cx="1060764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PASS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≤ Target +3dB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7130E2EA-1E74-492F-8BA1-EC605C3A2FFC}"/>
                </a:ext>
              </a:extLst>
            </p:cNvPr>
            <p:cNvSpPr/>
            <p:nvPr/>
          </p:nvSpPr>
          <p:spPr bwMode="auto">
            <a:xfrm rot="5400000">
              <a:off x="6324601" y="5179505"/>
              <a:ext cx="274320" cy="274320"/>
            </a:xfrm>
            <a:prstGeom prst="rect">
              <a:avLst/>
            </a:prstGeom>
            <a:solidFill>
              <a:srgbClr val="008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81EBBBE4-B2BD-432E-B3F0-1F0D1D12865E}"/>
                </a:ext>
              </a:extLst>
            </p:cNvPr>
            <p:cNvSpPr/>
            <p:nvPr/>
          </p:nvSpPr>
          <p:spPr bwMode="auto">
            <a:xfrm rot="5400000">
              <a:off x="6324601" y="5521076"/>
              <a:ext cx="274320" cy="274320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84C8CC77-605B-46FC-956D-37EDAC5776CB}"/>
                </a:ext>
              </a:extLst>
            </p:cNvPr>
            <p:cNvSpPr txBox="1"/>
            <p:nvPr/>
          </p:nvSpPr>
          <p:spPr>
            <a:xfrm>
              <a:off x="6286500" y="6127750"/>
              <a:ext cx="129953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0000FF"/>
                  </a:solidFill>
                </a:rPr>
                <a:t>Amplitude (Post-Test)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1884C62D-DBF6-4081-8323-9FEF46CF7D9B}"/>
                </a:ext>
              </a:extLst>
            </p:cNvPr>
            <p:cNvSpPr/>
            <p:nvPr/>
          </p:nvSpPr>
          <p:spPr bwMode="auto">
            <a:xfrm rot="5400000">
              <a:off x="6324601" y="5869886"/>
              <a:ext cx="274320" cy="274320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AD88A1F8-7889-4807-8205-4F1D5DD7465D}"/>
                </a:ext>
              </a:extLst>
            </p:cNvPr>
            <p:cNvSpPr txBox="1"/>
            <p:nvPr/>
          </p:nvSpPr>
          <p:spPr>
            <a:xfrm>
              <a:off x="6563995" y="5867400"/>
              <a:ext cx="1056005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ABSOLUTE FAIL*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&gt; Target +6dB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035B586B-3FFC-4958-808C-B0BB127A4C04}"/>
                </a:ext>
              </a:extLst>
            </p:cNvPr>
            <p:cNvSpPr txBox="1"/>
            <p:nvPr/>
          </p:nvSpPr>
          <p:spPr>
            <a:xfrm>
              <a:off x="6559235" y="5474385"/>
              <a:ext cx="1060765" cy="36933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CONDITIONAL FAIL*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Between Target +3dB and Target +6dB</a:t>
              </a:r>
            </a:p>
          </p:txBody>
        </p:sp>
        <p:sp>
          <p:nvSpPr>
            <p:cNvPr id="137" name="Multiply 93">
              <a:extLst>
                <a:ext uri="{FF2B5EF4-FFF2-40B4-BE49-F238E27FC236}">
                  <a16:creationId xmlns:a16="http://schemas.microsoft.com/office/drawing/2014/main" id="{649AE52E-94BC-4406-804D-68A9841BB76C}"/>
                </a:ext>
              </a:extLst>
            </p:cNvPr>
            <p:cNvSpPr/>
            <p:nvPr/>
          </p:nvSpPr>
          <p:spPr bwMode="auto">
            <a:xfrm>
              <a:off x="7783488" y="5799221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8" name="Multiply 94">
              <a:extLst>
                <a:ext uri="{FF2B5EF4-FFF2-40B4-BE49-F238E27FC236}">
                  <a16:creationId xmlns:a16="http://schemas.microsoft.com/office/drawing/2014/main" id="{76E55C4D-8860-4884-92DA-617450E62718}"/>
                </a:ext>
              </a:extLst>
            </p:cNvPr>
            <p:cNvSpPr/>
            <p:nvPr/>
          </p:nvSpPr>
          <p:spPr bwMode="auto">
            <a:xfrm>
              <a:off x="6324601" y="5200650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E1523E57-22E7-4006-8449-198A39042BFC}"/>
                </a:ext>
              </a:extLst>
            </p:cNvPr>
            <p:cNvSpPr txBox="1"/>
            <p:nvPr/>
          </p:nvSpPr>
          <p:spPr>
            <a:xfrm>
              <a:off x="7726180" y="5101372"/>
              <a:ext cx="401820" cy="21544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26A71D81-092A-4AB9-9C2D-D5AA34C0B20D}"/>
                </a:ext>
              </a:extLst>
            </p:cNvPr>
            <p:cNvSpPr txBox="1"/>
            <p:nvPr/>
          </p:nvSpPr>
          <p:spPr>
            <a:xfrm>
              <a:off x="7724097" y="5596408"/>
              <a:ext cx="401820" cy="21544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</a:rPr>
                <a:t>NO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997D66FF-4C8F-4F7B-A009-DF372D3DF090}"/>
              </a:ext>
            </a:extLst>
          </p:cNvPr>
          <p:cNvGrpSpPr/>
          <p:nvPr/>
        </p:nvGrpSpPr>
        <p:grpSpPr>
          <a:xfrm>
            <a:off x="3840480" y="5634334"/>
            <a:ext cx="1981200" cy="461666"/>
            <a:chOff x="3840480" y="5532121"/>
            <a:chExt cx="1981200" cy="461666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E29CDF71-4622-4743-8D83-DBBE8F29BDCB}"/>
                </a:ext>
              </a:extLst>
            </p:cNvPr>
            <p:cNvSpPr/>
            <p:nvPr/>
          </p:nvSpPr>
          <p:spPr bwMode="auto">
            <a:xfrm>
              <a:off x="3840480" y="5532121"/>
              <a:ext cx="1981200" cy="46166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D29F223-54C3-4C74-88F5-781187439B24}"/>
                </a:ext>
              </a:extLst>
            </p:cNvPr>
            <p:cNvCxnSpPr/>
            <p:nvPr/>
          </p:nvCxnSpPr>
          <p:spPr bwMode="auto">
            <a:xfrm>
              <a:off x="3916680" y="564007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936FD9E3-CF30-4BE9-AFA4-0280E0796C27}"/>
                </a:ext>
              </a:extLst>
            </p:cNvPr>
            <p:cNvCxnSpPr/>
            <p:nvPr/>
          </p:nvCxnSpPr>
          <p:spPr bwMode="auto">
            <a:xfrm>
              <a:off x="3916680" y="576072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FA22630-2A2B-4C44-8CE5-A12003A2006C}"/>
                </a:ext>
              </a:extLst>
            </p:cNvPr>
            <p:cNvSpPr txBox="1"/>
            <p:nvPr/>
          </p:nvSpPr>
          <p:spPr>
            <a:xfrm>
              <a:off x="4265930" y="5532122"/>
              <a:ext cx="15557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Pre-Test (0% BCW)</a:t>
              </a:r>
            </a:p>
            <a:p>
              <a:r>
                <a:rPr lang="en-US" sz="800" b="1" dirty="0"/>
                <a:t>Post-Test (100% BCW)</a:t>
              </a:r>
            </a:p>
            <a:p>
              <a:r>
                <a:rPr lang="en-US" sz="800" b="1" dirty="0"/>
                <a:t>Post-Test (300% BCW)</a:t>
              </a:r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875E39AC-EE6F-41F4-8387-1CB913F8E3C5}"/>
                </a:ext>
              </a:extLst>
            </p:cNvPr>
            <p:cNvCxnSpPr/>
            <p:nvPr/>
          </p:nvCxnSpPr>
          <p:spPr bwMode="auto">
            <a:xfrm>
              <a:off x="3916680" y="5884545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B55D55DD-DB86-4F2E-B15D-8F0CE2A60EF2}"/>
              </a:ext>
            </a:extLst>
          </p:cNvPr>
          <p:cNvSpPr txBox="1"/>
          <p:nvPr/>
        </p:nvSpPr>
        <p:spPr>
          <a:xfrm>
            <a:off x="2673417" y="1423694"/>
            <a:ext cx="609600" cy="215444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--12dB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5F69AFF-CBFF-4D68-AF6B-FC7C67ECF246}"/>
              </a:ext>
            </a:extLst>
          </p:cNvPr>
          <p:cNvCxnSpPr>
            <a:cxnSpLocks/>
            <a:stCxn id="90" idx="3"/>
          </p:cNvCxnSpPr>
          <p:nvPr/>
        </p:nvCxnSpPr>
        <p:spPr bwMode="auto">
          <a:xfrm>
            <a:off x="3283017" y="1531416"/>
            <a:ext cx="633663" cy="19728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343AD952-EFF7-4CA2-9415-7980A73F3278}"/>
              </a:ext>
            </a:extLst>
          </p:cNvPr>
          <p:cNvSpPr txBox="1"/>
          <p:nvPr/>
        </p:nvSpPr>
        <p:spPr>
          <a:xfrm>
            <a:off x="2673417" y="1154108"/>
            <a:ext cx="609600" cy="215444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err="1"/>
              <a:t>XdB</a:t>
            </a:r>
            <a:endParaRPr lang="en-US" sz="800" b="1" dirty="0"/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6E8466EC-CAF9-4C29-A81F-A0A8B15942A3}"/>
              </a:ext>
            </a:extLst>
          </p:cNvPr>
          <p:cNvCxnSpPr>
            <a:cxnSpLocks/>
            <a:stCxn id="92" idx="3"/>
          </p:cNvCxnSpPr>
          <p:nvPr/>
        </p:nvCxnSpPr>
        <p:spPr bwMode="auto">
          <a:xfrm>
            <a:off x="3283017" y="1261830"/>
            <a:ext cx="633663" cy="3331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1" name="Text Box 9">
            <a:extLst>
              <a:ext uri="{FF2B5EF4-FFF2-40B4-BE49-F238E27FC236}">
                <a16:creationId xmlns:a16="http://schemas.microsoft.com/office/drawing/2014/main" id="{3F7E2D0D-C3A0-4BE0-BAC4-85BC1F33CB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7103"/>
            <a:ext cx="7329487" cy="400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9" tIns="45714" rIns="91429" bIns="45714">
            <a:spAutoFit/>
          </a:bodyPr>
          <a:lstStyle/>
          <a:p>
            <a:pPr marL="457200" indent="-457200" algn="ctr">
              <a:spcBef>
                <a:spcPts val="0"/>
              </a:spcBef>
              <a:defRPr/>
            </a:pPr>
            <a:r>
              <a:rPr 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Stellantis CUSW 2-Speed PV PTU 131mm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A46CA51-D43A-4E49-AEBD-87119F92CEDE}"/>
              </a:ext>
            </a:extLst>
          </p:cNvPr>
          <p:cNvSpPr txBox="1"/>
          <p:nvPr/>
        </p:nvSpPr>
        <p:spPr>
          <a:xfrm>
            <a:off x="76200" y="6620933"/>
            <a:ext cx="2667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Published By:  C. Li  3/2/2022</a:t>
            </a:r>
            <a:r>
              <a:rPr lang="en-US" sz="800" b="1" dirty="0">
                <a:solidFill>
                  <a:schemeClr val="tx1"/>
                </a:solidFill>
              </a:rPr>
              <a:t/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3919E8F3-6F54-43F5-98DF-11AA58A5D4BE}"/>
              </a:ext>
            </a:extLst>
          </p:cNvPr>
          <p:cNvGrpSpPr/>
          <p:nvPr/>
        </p:nvGrpSpPr>
        <p:grpSpPr>
          <a:xfrm>
            <a:off x="3657600" y="2438400"/>
            <a:ext cx="2240280" cy="707888"/>
            <a:chOff x="3581400" y="2438400"/>
            <a:chExt cx="2240280" cy="707888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FDD81405-40F6-4BCA-8D60-898BFD1ACA52}"/>
                </a:ext>
              </a:extLst>
            </p:cNvPr>
            <p:cNvSpPr/>
            <p:nvPr/>
          </p:nvSpPr>
          <p:spPr bwMode="auto">
            <a:xfrm>
              <a:off x="3581400" y="2438400"/>
              <a:ext cx="2133600" cy="69917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CA4767A2-1F77-43C4-A107-9EDEA55C640D}"/>
                </a:ext>
              </a:extLst>
            </p:cNvPr>
            <p:cNvCxnSpPr/>
            <p:nvPr/>
          </p:nvCxnSpPr>
          <p:spPr bwMode="auto">
            <a:xfrm>
              <a:off x="3657600" y="254635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9602BD9C-B69E-42AF-B4D3-B44232D19F3C}"/>
                </a:ext>
              </a:extLst>
            </p:cNvPr>
            <p:cNvCxnSpPr/>
            <p:nvPr/>
          </p:nvCxnSpPr>
          <p:spPr bwMode="auto">
            <a:xfrm>
              <a:off x="3657600" y="266700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A0F2F369-0ABF-4B4C-93FE-ABAEBD88EC78}"/>
                </a:ext>
              </a:extLst>
            </p:cNvPr>
            <p:cNvSpPr txBox="1"/>
            <p:nvPr/>
          </p:nvSpPr>
          <p:spPr>
            <a:xfrm>
              <a:off x="4006850" y="2438402"/>
              <a:ext cx="18148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Pre-Test (0% BCW)</a:t>
              </a:r>
            </a:p>
            <a:p>
              <a:r>
                <a:rPr lang="en-US" sz="800" b="1" dirty="0"/>
                <a:t>Post-Test (100% BCW)</a:t>
              </a:r>
            </a:p>
            <a:p>
              <a:r>
                <a:rPr lang="en-US" sz="800" b="1" dirty="0"/>
                <a:t>Post-Test (300% BCW)</a:t>
              </a:r>
            </a:p>
            <a:p>
              <a:r>
                <a:rPr lang="en-US" sz="800" b="1" dirty="0"/>
                <a:t>0.8µm Preliminary Target</a:t>
              </a:r>
            </a:p>
            <a:p>
              <a:r>
                <a:rPr lang="en-US" sz="800" b="1" dirty="0"/>
                <a:t>0.8µm Preliminary Target + 3dB</a:t>
              </a:r>
            </a:p>
          </p:txBody>
        </p: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6B3C257F-D27C-4EC1-B414-96F12A2E289C}"/>
                </a:ext>
              </a:extLst>
            </p:cNvPr>
            <p:cNvCxnSpPr/>
            <p:nvPr/>
          </p:nvCxnSpPr>
          <p:spPr bwMode="auto">
            <a:xfrm>
              <a:off x="3657600" y="2790825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E7E72833-DC2B-48C9-A78A-BE1F384CD030}"/>
                </a:ext>
              </a:extLst>
            </p:cNvPr>
            <p:cNvCxnSpPr/>
            <p:nvPr/>
          </p:nvCxnSpPr>
          <p:spPr bwMode="auto">
            <a:xfrm>
              <a:off x="3661410" y="2905497"/>
              <a:ext cx="3810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63F820B4-593D-48B3-BA94-29DD3DFBF4B6}"/>
                </a:ext>
              </a:extLst>
            </p:cNvPr>
            <p:cNvCxnSpPr/>
            <p:nvPr/>
          </p:nvCxnSpPr>
          <p:spPr bwMode="auto">
            <a:xfrm>
              <a:off x="3657600" y="3017520"/>
              <a:ext cx="3810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29934240-29C7-42B7-AA1F-85AFB7C259FC}"/>
              </a:ext>
            </a:extLst>
          </p:cNvPr>
          <p:cNvGrpSpPr/>
          <p:nvPr/>
        </p:nvGrpSpPr>
        <p:grpSpPr>
          <a:xfrm>
            <a:off x="6248400" y="847725"/>
            <a:ext cx="2743200" cy="1313914"/>
            <a:chOff x="6324600" y="914400"/>
            <a:chExt cx="2743200" cy="1313914"/>
          </a:xfrm>
        </p:grpSpPr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BFC99CF-3DBC-4311-8921-31252A69DC6A}"/>
                </a:ext>
              </a:extLst>
            </p:cNvPr>
            <p:cNvSpPr txBox="1"/>
            <p:nvPr/>
          </p:nvSpPr>
          <p:spPr>
            <a:xfrm>
              <a:off x="6324600" y="1151096"/>
              <a:ext cx="2743200" cy="10772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 Order: 282084</a:t>
              </a:r>
              <a:r>
                <a:rPr lang="en-US" sz="800" b="1" dirty="0">
                  <a:solidFill>
                    <a:schemeClr val="tx1"/>
                  </a:solidFill>
                </a:rPr>
                <a:t/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 Dyno: RHTC AWD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Test(s) Performed: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Pre-Test (2/10/2022)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Post-100% (3/2/2022)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Post-300% (n/a)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PTL Test Order:  282083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PTL Sample Number: 0002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B501D2F-1F6F-4B45-85B1-43FC3AB0BF93}"/>
                </a:ext>
              </a:extLst>
            </p:cNvPr>
            <p:cNvSpPr txBox="1"/>
            <p:nvPr/>
          </p:nvSpPr>
          <p:spPr>
            <a:xfrm>
              <a:off x="7010400" y="914400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Testing Information</a:t>
              </a: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619A2D47-13DF-4066-8CB8-0A3F4765D2B1}"/>
              </a:ext>
            </a:extLst>
          </p:cNvPr>
          <p:cNvGrpSpPr/>
          <p:nvPr/>
        </p:nvGrpSpPr>
        <p:grpSpPr>
          <a:xfrm>
            <a:off x="6248400" y="2197715"/>
            <a:ext cx="2743200" cy="1016585"/>
            <a:chOff x="6324600" y="2401253"/>
            <a:chExt cx="2743200" cy="1016585"/>
          </a:xfrm>
        </p:grpSpPr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15483F00-77CD-4027-8BD3-980BB239007F}"/>
                </a:ext>
              </a:extLst>
            </p:cNvPr>
            <p:cNvSpPr txBox="1"/>
            <p:nvPr/>
          </p:nvSpPr>
          <p:spPr>
            <a:xfrm>
              <a:off x="6324600" y="2633008"/>
              <a:ext cx="2743200" cy="7848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Design Level: PV (diff re-sourcing)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P/N: 68333255AE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S/N: T36P22024115524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Ratio: 2.73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Prop Info: PS1247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BA681FF5-7E74-455D-8E66-FDD6226925C4}"/>
                </a:ext>
              </a:extLst>
            </p:cNvPr>
            <p:cNvSpPr txBox="1"/>
            <p:nvPr/>
          </p:nvSpPr>
          <p:spPr>
            <a:xfrm>
              <a:off x="7010400" y="2401253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Part Information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DDABAE42-5E39-43B6-B0A3-77F0BDBD056B}"/>
              </a:ext>
            </a:extLst>
          </p:cNvPr>
          <p:cNvGrpSpPr/>
          <p:nvPr/>
        </p:nvGrpSpPr>
        <p:grpSpPr>
          <a:xfrm>
            <a:off x="6248400" y="3291101"/>
            <a:ext cx="2743200" cy="1017800"/>
            <a:chOff x="6248400" y="3376983"/>
            <a:chExt cx="2743200" cy="1017800"/>
          </a:xfrm>
        </p:grpSpPr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DD38B792-00A4-45EA-BC3C-3F6601251511}"/>
                </a:ext>
              </a:extLst>
            </p:cNvPr>
            <p:cNvSpPr txBox="1"/>
            <p:nvPr/>
          </p:nvSpPr>
          <p:spPr>
            <a:xfrm>
              <a:off x="6248400" y="3609953"/>
              <a:ext cx="2743200" cy="7848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t" anchorCtr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/>
                <a:t>Coast (Amplitude vs. Target +3dB):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900" dirty="0"/>
                <a:t>Post-100%: </a:t>
              </a:r>
              <a:r>
                <a:rPr lang="en-US" sz="900" dirty="0">
                  <a:solidFill>
                    <a:schemeClr val="tx1"/>
                  </a:solidFill>
                </a:rPr>
                <a:t>--12dB(100</a:t>
              </a:r>
              <a:r>
                <a:rPr lang="en-US" sz="900" dirty="0"/>
                <a:t>%)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Post-300%: n/</a:t>
              </a:r>
              <a:r>
                <a:rPr lang="en-US" sz="900" dirty="0" err="1">
                  <a:solidFill>
                    <a:schemeClr val="tx1"/>
                  </a:solidFill>
                </a:rPr>
                <a:t>adB</a:t>
              </a:r>
              <a:r>
                <a:rPr lang="en-US" sz="900" dirty="0">
                  <a:solidFill>
                    <a:schemeClr val="tx1"/>
                  </a:solidFill>
                </a:rPr>
                <a:t>(300%)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endParaRPr lang="en-US" sz="900" dirty="0">
                <a:solidFill>
                  <a:schemeClr val="tx1"/>
                </a:solidFill>
              </a:endParaRP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Comments: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BDCE27D2-660C-4D61-98E0-C4D25963AF30}"/>
                </a:ext>
              </a:extLst>
            </p:cNvPr>
            <p:cNvSpPr txBox="1"/>
            <p:nvPr/>
          </p:nvSpPr>
          <p:spPr>
            <a:xfrm>
              <a:off x="6934200" y="3376983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Testing Results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9115174"/>
      </p:ext>
    </p:extLst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1_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4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4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4510</TotalTime>
  <Words>1698</Words>
  <Application>Microsoft Office PowerPoint</Application>
  <PresentationFormat>Letter Paper (8.5x11 in)</PresentationFormat>
  <Paragraphs>356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1_Default Design</vt:lpstr>
      <vt:lpstr>Active Picture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American Axle &amp; Manufacturing,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AAM</dc:creator>
  <cp:lastModifiedBy>Li, Corey</cp:lastModifiedBy>
  <cp:revision>550</cp:revision>
  <cp:lastPrinted>2015-05-29T13:47:26Z</cp:lastPrinted>
  <dcterms:created xsi:type="dcterms:W3CDTF">2008-06-05T19:45:51Z</dcterms:created>
  <dcterms:modified xsi:type="dcterms:W3CDTF">2022-03-02T18:59:15Z</dcterms:modified>
</cp:coreProperties>
</file>